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6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linear-gradient(135deg, #0B1220 0%, #1E3A8A 100%)', padding: '0', position: 'relative' }}&gt;&#10;  &lt;Box style={{ position: 'absolute', top: -90, right: -90, width: 380, height: 380, borderRadius: 190, background: 'rgba(59,130,246,0.15)' }} /&gt;&#10;  &lt;Box style={{ position: 'absolute', bottom: -130, left: -70, width: 340, height: 340, borderRadius: 170, background: 'rgba(14,165,233,0.12)' }} /&gt;&#10;  &lt;Box style={{ position: 'relative', zIndex: 1, height: '100%', padding: '80px 96px', flexDirection: 'column', justifyContent: 'center' }}&gt;&#10;    &lt;Text style={{ fontSize: 17, color: '#93C5FD', letterSpacing: 4, fontWeight: 'bold' }}&gt;CAMUNDA 8 · BPMN COLLABORATION PROCESS&lt;/Text&gt;&#10;    &lt;Text style={{ fontSize: 54, color: '#FFFFFF', fontWeight: 'bold', lineHeight: 1.15, marginTop: 14 }}&gt;Hospital Patient Referral&lt;/Text&gt;&#10;    &lt;Text style={{ fontSize: 54, color: '#FFFFFF', fontWeight: 'bold', lineHeight: 1.15 }}&gt;and Treatment Management&lt;/Text&gt;&#10;    &lt;Text style={{ fontSize: 23, color: '#BFDBFE', marginTop: 10 }}&gt;医院患者转诊与治疗管理流程&lt;/Text&gt;&#10;    &lt;Box style={{ width: 92, height: 5, background: '#F59E0B', marginTop: 22, borderRadius: 3 }} /&gt;&#10;    &lt;Text style={{ fontSize: 24, color: '#E0E7FF', marginTop: 20, fontWeight: '600' }}&gt;Operational Diagram &amp;amp; Measurable Acceptance Criteria&lt;/Text&gt;&#10;    &lt;Text style={{ fontSize: 18, color: '#C7D2FE' }}&gt;操作流程图 · 可度量验收标准&lt;/Text&gt;&#10;    &lt;Box style={{ marginTop: 30, flexDirection: 'row', gap: 12, alignItems: 'center' }}&gt;&#10;      &lt;Box style={{ flexDirection: 'row', alignItems: 'center', gap: 7, background: 'rgba(99,102,241,0.35)', padding: '7px 13px', borderRadius: 16 }}&gt;&lt;Box style={{ width: 10, height: 10, borderRadius: 5, background: '#A5B4FC' }} /&gt;&lt;Text style={{ fontSize: 14, color: '#E0E7FF' }}&gt;Charlie Ye · BPMN&lt;/Text&gt;&lt;/Box&gt;&#10;      &lt;Box style={{ flexDirection: 'row', alignItems: 'center', gap: 7, background: 'rgba(37,99,235,0.35)', padding: '7px 13px', borderRadius: 16 }}&gt;&lt;Box style={{ width: 10, height: 10, borderRadius: 5, background: '#93C5FD' }} /&gt;&lt;Text style={{ fontSize: 14, color: '#E0E7FF' }}&gt;Zongyao Jin · Forms&lt;/Text&gt;&lt;/Box&gt;&#10;      &lt;Box style={{ flexDirection: 'row', alignItems: 'center', gap: 7, background: 'rgba(14,165,233,0.35)', padding: '7px 13px', borderRadius: 16 }}&gt;&lt;Box style={{ width: 10, height: 10, borderRadius: 5, background: '#7DD3FC' }} /&gt;&lt;Text style={{ fontSize: 14, color: '#E0E7FF' }}&gt;Steven Ma · Code&lt;/Text&gt;&lt;/Box&gt;&#10;      &lt;Box style={{ flexDirection: 'row', alignItems: 'center', gap: 7, background: 'rgba(16,185,129,0.35)', padding: '7px 13px', borderRadius: 16 }}&gt;&lt;Box style={{ width: 10, height: 10, borderRadius: 5, background: '#6EE7B7' }} /&gt;&lt;Text style={{ fontSize: 14, color: '#E0E7FF' }}&gt;Shaoyang Li · Testing&lt;/Text&gt;&lt;/Box&gt;&#10;      &lt;Box style={{ flexDirection: 'row', alignItems: 'center', gap: 7, background: 'rgba(245,158,11,0.35)', padding: '7px 13px', borderRadius: 16 }}&gt;&lt;Box style={{ width: 10, height: 10, borderRadius: 5, background: '#FCD34D' }} /&gt;&lt;Text style={{ fontSize: 14, color: '#E0E7FF' }}&gt;Subo Liu · Integration&lt;/Text&gt;&lt;/Box&gt;&#10;    &lt;/Box&gt;&#10;    &lt;Box style={{ marginTop: 24, flexDirection: 'row', gap: 16, alignItems: 'center' }}&gt;&#10;      &lt;Text style={{ fontSize: 15, color: '#93C5FD' }}&gt;Advanced Information Systems · Year 4&lt;/Text&gt;&#10;      &lt;Box style={{ width: 1, height: 15, background: 'rgba(147,197,253,0.5)' }} /&gt;&#10;      &lt;Text style={{ fontSize: 15, color: '#93C5FD' }}&gt;Group Project Presentation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E3A8A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3" name="圆角矩形 2"/>
          <p:cNvSpPr/>
          <p:nvPr/>
        </p:nvSpPr>
        <p:spPr>
          <a:xfrm>
            <a:off x="9429750" y="-857250"/>
            <a:ext cx="3619500" cy="3619500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" name="圆角矩形 3"/>
          <p:cNvSpPr/>
          <p:nvPr/>
        </p:nvSpPr>
        <p:spPr>
          <a:xfrm>
            <a:off x="-666750" y="4857750"/>
            <a:ext cx="3238500" cy="3238500"/>
          </a:xfrm>
          <a:prstGeom prst="roundRect">
            <a:avLst>
              <a:gd name="adj" fmla="val 50000"/>
            </a:avLst>
          </a:prstGeom>
          <a:solidFill>
            <a:srgbClr val="0EA5E9">
              <a:alpha val="12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914400" y="1409700"/>
            <a:ext cx="103632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 spc="300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CAMUNDA 8 · BPMN COLLABORATION PROCESS</a:t>
            </a:r>
          </a:p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914400" y="1743075"/>
            <a:ext cx="10363200" cy="714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5000"/>
              </a:lnSpc>
            </a:pPr>
            <a:r>
              <a:rPr lang="en-US" sz="4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Hospital Patient Referral</a:t>
            </a:r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914400" y="2457450"/>
            <a:ext cx="10363200" cy="714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5000"/>
              </a:lnSpc>
            </a:pPr>
            <a:r>
              <a:rPr lang="en-US" sz="4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and Treatment Management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914400" y="3743325"/>
            <a:ext cx="876300" cy="47625"/>
          </a:xfrm>
          <a:prstGeom prst="roundRect">
            <a:avLst>
              <a:gd name="adj" fmla="val 60000"/>
            </a:avLst>
          </a:prstGeom>
          <a:solidFill>
            <a:srgbClr val="F59E0B"/>
          </a:solidFill>
        </p:spPr>
        <p:txBody>
          <a:bodyPr/>
          <a:lstStyle/>
          <a:p>
            <a:endParaRPr/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914400" y="3981450"/>
            <a:ext cx="103632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E0E7FF"/>
                </a:solidFill>
                <a:latin typeface="微软雅黑" panose="020B0503020204020204" charset="-122"/>
                <a:ea typeface="微软雅黑" panose="020B0503020204020204" charset="-122"/>
              </a:rPr>
              <a:t>Operational Diagram &amp; Measurable Acceptance Criteria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914400" y="4752975"/>
            <a:ext cx="1552575" cy="295275"/>
          </a:xfrm>
          <a:prstGeom prst="roundRect">
            <a:avLst>
              <a:gd name="adj" fmla="val 51613"/>
            </a:avLst>
          </a:prstGeom>
          <a:solidFill>
            <a:srgbClr val="6366F1">
              <a:alpha val="35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" name="圆角矩形 12"/>
          <p:cNvSpPr/>
          <p:nvPr/>
        </p:nvSpPr>
        <p:spPr>
          <a:xfrm>
            <a:off x="1038225" y="48577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A5B4FC"/>
          </a:solidFill>
        </p:spPr>
        <p:txBody>
          <a:bodyPr/>
          <a:lstStyle/>
          <a:p>
            <a:endParaRPr/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1200150" y="4819650"/>
            <a:ext cx="11430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E0E7FF"/>
                </a:solidFill>
                <a:latin typeface="微软雅黑" panose="020B0503020204020204" charset="-122"/>
                <a:ea typeface="微软雅黑" panose="020B0503020204020204" charset="-122"/>
              </a:rPr>
              <a:t>Charlie Ye · BPMN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2581275" y="4752975"/>
            <a:ext cx="1695450" cy="295275"/>
          </a:xfrm>
          <a:prstGeom prst="roundRect">
            <a:avLst>
              <a:gd name="adj" fmla="val 51613"/>
            </a:avLst>
          </a:prstGeom>
          <a:solidFill>
            <a:srgbClr val="2563EB">
              <a:alpha val="35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" name="圆角矩形 15"/>
          <p:cNvSpPr/>
          <p:nvPr/>
        </p:nvSpPr>
        <p:spPr>
          <a:xfrm>
            <a:off x="2705100" y="48577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93C5FD"/>
          </a:solidFill>
        </p:spPr>
        <p:txBody>
          <a:bodyPr/>
          <a:lstStyle/>
          <a:p>
            <a:endParaRPr/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2867025" y="4819650"/>
            <a:ext cx="12858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E0E7FF"/>
                </a:solidFill>
                <a:latin typeface="微软雅黑" panose="020B0503020204020204" charset="-122"/>
                <a:ea typeface="微软雅黑" panose="020B0503020204020204" charset="-122"/>
              </a:rPr>
              <a:t>Zongyao Jin · Forms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4391025" y="4752975"/>
            <a:ext cx="1524000" cy="295275"/>
          </a:xfrm>
          <a:prstGeom prst="roundRect">
            <a:avLst>
              <a:gd name="adj" fmla="val 51613"/>
            </a:avLst>
          </a:prstGeom>
          <a:solidFill>
            <a:srgbClr val="0EA5E9">
              <a:alpha val="35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" name="圆角矩形 18"/>
          <p:cNvSpPr/>
          <p:nvPr/>
        </p:nvSpPr>
        <p:spPr>
          <a:xfrm>
            <a:off x="4514850" y="48577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7DD3FC"/>
          </a:solidFill>
        </p:spPr>
        <p:txBody>
          <a:bodyPr/>
          <a:lstStyle/>
          <a:p>
            <a:endParaRPr/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4676775" y="4819650"/>
            <a:ext cx="11144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E0E7FF"/>
                </a:solidFill>
                <a:latin typeface="微软雅黑" panose="020B0503020204020204" charset="-122"/>
                <a:ea typeface="微软雅黑" panose="020B0503020204020204" charset="-122"/>
              </a:rPr>
              <a:t>Steven Ma · Code</a:t>
            </a:r>
          </a:p>
        </p:txBody>
      </p:sp>
      <p:sp>
        <p:nvSpPr>
          <p:cNvPr id="21" name="圆角矩形 20"/>
          <p:cNvSpPr/>
          <p:nvPr/>
        </p:nvSpPr>
        <p:spPr>
          <a:xfrm>
            <a:off x="6029325" y="4752975"/>
            <a:ext cx="1752600" cy="295275"/>
          </a:xfrm>
          <a:prstGeom prst="roundRect">
            <a:avLst>
              <a:gd name="adj" fmla="val 51613"/>
            </a:avLst>
          </a:prstGeom>
          <a:solidFill>
            <a:srgbClr val="10B981">
              <a:alpha val="35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" name="圆角矩形 21"/>
          <p:cNvSpPr/>
          <p:nvPr/>
        </p:nvSpPr>
        <p:spPr>
          <a:xfrm>
            <a:off x="6153150" y="48577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6EE7B7"/>
          </a:solidFill>
        </p:spPr>
        <p:txBody>
          <a:bodyPr/>
          <a:lstStyle/>
          <a:p>
            <a:endParaRPr/>
          </a:p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6315075" y="4819650"/>
            <a:ext cx="13430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E0E7FF"/>
                </a:solidFill>
                <a:latin typeface="微软雅黑" panose="020B0503020204020204" charset="-122"/>
                <a:ea typeface="微软雅黑" panose="020B0503020204020204" charset="-122"/>
              </a:rPr>
              <a:t>Shaoyang Li · Testing</a:t>
            </a:r>
          </a:p>
        </p:txBody>
      </p:sp>
      <p:sp>
        <p:nvSpPr>
          <p:cNvPr id="24" name="圆角矩形 23"/>
          <p:cNvSpPr/>
          <p:nvPr/>
        </p:nvSpPr>
        <p:spPr>
          <a:xfrm>
            <a:off x="7896225" y="4752975"/>
            <a:ext cx="1790700" cy="295275"/>
          </a:xfrm>
          <a:prstGeom prst="roundRect">
            <a:avLst>
              <a:gd name="adj" fmla="val 51613"/>
            </a:avLst>
          </a:prstGeom>
          <a:solidFill>
            <a:srgbClr val="F59E0B">
              <a:alpha val="35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" name="圆角矩形 24"/>
          <p:cNvSpPr/>
          <p:nvPr/>
        </p:nvSpPr>
        <p:spPr>
          <a:xfrm>
            <a:off x="8020050" y="48577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CD34D"/>
          </a:solidFill>
        </p:spPr>
        <p:txBody>
          <a:bodyPr/>
          <a:lstStyle/>
          <a:p>
            <a:endParaRPr/>
          </a:p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8181975" y="4819650"/>
            <a:ext cx="13811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E0E7FF"/>
                </a:solidFill>
                <a:latin typeface="微软雅黑" panose="020B0503020204020204" charset="-122"/>
                <a:ea typeface="微软雅黑" panose="020B0503020204020204" charset="-122"/>
              </a:rPr>
              <a:t>Subo Liu · Integration</a:t>
            </a:r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914400" y="5276850"/>
            <a:ext cx="26574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Advanced Information Systems · Year 4</a:t>
            </a:r>
          </a:p>
        </p:txBody>
      </p:sp>
      <p:sp>
        <p:nvSpPr>
          <p:cNvPr id="28" name="矩形 27"/>
          <p:cNvSpPr/>
          <p:nvPr/>
        </p:nvSpPr>
        <p:spPr>
          <a:xfrm>
            <a:off x="3724275" y="5295900"/>
            <a:ext cx="9525" cy="142875"/>
          </a:xfrm>
          <a:prstGeom prst="rect">
            <a:avLst/>
          </a:prstGeom>
          <a:solidFill>
            <a:srgbClr val="93C5FD">
              <a:alpha val="5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3886200" y="5276850"/>
            <a:ext cx="18478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93C5FD"/>
                </a:solidFill>
                <a:latin typeface="微软雅黑" panose="020B0503020204020204" charset="-122"/>
                <a:ea typeface="微软雅黑" panose="020B0503020204020204" charset="-122"/>
              </a:rPr>
              <a:t>Group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8FAFC' }}&gt;&#10;  &lt;Box style={{ height: 110, paddingTop: 22, paddingLeft: 70, paddingRight: 70, flexDirection: 'row', alignItems: 'center', justifyContent: 'space-between' }}&gt;&#10;    &lt;Box&gt;&#10;      &lt;Text style={{ fontSize: 32, fontWeight: 'bold', color: '#0F172A' }}&gt;Team &amp;amp; Project Overview&lt;/Text&gt;&#10;      &lt;Text style={{ fontSize: 19, color: '#475569' }}&gt;团队分工 · 项目概览&lt;/Text&gt;&#10;    &lt;/Box&gt;&#10;    &lt;Box style={{ background: 'rgba(37,99,235,0.1)', padding: '8px 18px', borderRadius: 20 }}&gt;&#10;      &lt;Text style={{ fontSize: 15, color: '#2563EB', fontWeight: 'bold' }}&gt;5 Members · 1 Process&lt;/Text&gt;&#10;    &lt;/Box&gt;&#10;  &lt;/Box&gt;&#10;&#10;  &lt;Box style={{ height: 550, paddingLeft: 70, paddingRight: 70, paddingBottom: 10, flexDirection: 'row', gap: 26 }}&gt;&#10;    &lt;Box style={{ width: '32%', background: 'linear-gradient(135deg, #2563EB 0%, #0EA5E9 100%)', borderRadius: 18, padding: 28, justifyContent: 'space-between' }}&gt;&#10;      &lt;Box&gt;&#10;        &lt;Text style={{ fontSize: 15, color: '#DBEAFE', letterSpacing: 2 }}&gt;THE PROJECT&lt;/Text&gt;&#10;        &lt;Text style={{ fontSize: 40, color: '#FFFFFF', fontWeight: 'bold', marginTop: 8, lineHeight: 1.2 }}&gt;Referral&lt;/Text&gt;&#10;        &lt;Text style={{ fontSize: 40, color: '#FFFFFF', fontWeight: 'bold', lineHeight: 1.2 }}&gt;in 4 Parties&lt;/Text&gt;&#10;        &lt;Text style={{ fontSize: 16, color: '#E0F2FE', marginTop: 12, lineHeight: 1.5 }}&gt;基于 Camunda 8 (Zeebe) 的 BPMN 协作流程：转诊 → 治疗 → 随访，四方通过消息驱动、correlationKey 关联同一实例。&lt;/Text&gt;&#10;      &lt;/Box&gt;&#10;      &lt;Box&gt;&#10;        &lt;Text style={{ fontSize: 14, color: '#DBEAFE' }}&gt;Tech Stack&lt;/Text&gt;&#10;        &lt;Text style={{ fontSize: 16, color: '#FFFFFF', fontWeight: 'bold', marginTop: 4, lineHeight: 1.5 }}&gt;Camunda 8.9 · Spring Boot 4 · Java 22 · JUnit 5 + Camunda Process Test&lt;/Text&gt;&#10;      &lt;/Box&gt;&#10;    &lt;/Box&gt;&#10;&#10;    &lt;Box style={{ width: '68%', flexDirection: 'column', gap: 11, justifyContent: 'center' }}&gt;&#10;      &lt;Box style={{ flexDirection: 'row', alignItems: 'center', gap: 14, background: '#FFFFFF', borderRadius: 14, padding: '12px 18px', boxShadow: '0 3px 14px rgba(0,0,0,0.05)' }}&gt;&#10;        &lt;Box style={{ width: 46, height: 46, borderRadius: 12, background: '#6366F1', alignItems: 'center', justifyContent: 'center' }}&gt;&lt;Text style={{ fontSize: 19, color: '#FFFFFF', fontWeight: 'bold' }}&gt;CY&lt;/Text&gt;&lt;/Box&gt;&#10;        &lt;Box style={{ flex: 1 }}&gt;&#10;          &lt;Text style={{ fontSize: 18, color: '#0F172A', fontWeight: 'bold' }}&gt;Charlie Ye &lt;Text style={{ fontSize: 14, color: '#6366F1' }}&gt; · BPMN Lead 流程建模&lt;/Text&gt;&lt;/Text&gt;&#10;          &lt;Text style={{ fontSize: 15, color: '#475569', lineHeight: 1.4, marginTop: 2 }}&gt;设计四泳道协作 BPMN 与全部消息流 —— 本次操作流程图的作者&lt;/Text&gt;&#10;        &lt;/Box&gt;&#10;      &lt;/Box&gt;&#10;      &lt;Box style={{ flexDirection: 'row', alignItems: 'center', gap: 14, background: '#FFFFFF', borderRadius: 14, padding: '12px 18px', boxShadow: '0 3px 14px rgba(0,0,0,0.05)' }}&gt;&#10;        &lt;Box style={{ width: 46, height: 46, borderRadius: 12, background: '#2563EB', alignItems: 'center', justifyContent: 'center' }}&gt;&lt;Text style={{ fontSize: 19, color: '#FFFFFF', fontWeight: 'bold' }}&gt;ZJ&lt;/Text&gt;&lt;/Box&gt;&#10;        &lt;Box style={{ flex: 1 }}&gt;&#10;          &lt;Text style={{ fontSize: 18, color: '#0F172A', fontWeight: 'bold' }}&gt;Zongyao Jin &lt;Text style={{ fontSize: 14, color: '#2563EB' }}&gt; · Forms 表单设计&lt;/Text&gt;&lt;/Text&gt;&#10;          &lt;Text style={{ fontSize: 15, color: '#475569', lineHeight: 1.4, marginTop: 2 }}&gt;用户任务表单与字段校验：提交 / 补料 / 确认 / 同意 / 支付&lt;/Text&gt;&#10;        &lt;/Box&gt;&#10;      &lt;/Box&gt;&#10;      &lt;Box style={{ flexDirection: 'row', alignItems: 'center', gap: 14, background: '#FFFFFF', borderRadius: 14, padding: '12px 18px', boxShadow: '0 3px 14px rgba(0,0,0,0.05)' }}&gt;&#10;        &lt;Box style={{ width: 46, height: 46, borderRadius: 12, background: '#0EA5E9', alignItems: 'center', justifyContent: 'center' }}&gt;&lt;Text style={{ fontSize: 19, color: '#FFFFFF', fontWeight: 'bold' }}&gt;SM&lt;/Text&gt;&lt;/Box&gt;&#10;        &lt;Box style={{ flex: 1 }}&gt;&#10;          &lt;Text style={{ fontSize: 18, color: '#0F172A', fontWeight: 'bold' }}&gt;Steven Ma &lt;Text style={{ fontSize: 14, color: '#0EA5E9' }}&gt; · Code Java 开发&lt;/Text&gt;&lt;/Text&gt;&#10;          &lt;Text style={{ fontSize: 15, color: '#475569', lineHeight: 1.4, marginTop: 2 }}&gt;全部自动化任务的 @JobWorker 实现与 Spring Boot 集成&lt;/Text&gt;&#10;        &lt;/Box&gt;&#10;      &lt;/Box&gt;&#10;      &lt;Box style={{ flexDirection: 'row', alignItems: 'center', gap: 14, background: '#FFFFFF', borderRadius: 14, padding: '12px 18px', boxShadow: '0 3px 14px rgba(0,0,0,0.05)' }}&gt;&#10;        &lt;Box style={{ width: 46, height: 46, borderRadius: 12, background: '#10B981', alignItems: 'center', justifyContent: 'center' }}&gt;&lt;Text style={{ fontSize: 19, color: '#FFFFFF', fontWeight: 'bold' }}&gt;SL&lt;/Text&gt;&lt;/Box&gt;&#10;        &lt;Box style={{ flex: 1 }}&gt;&#10;          &lt;Text style={{ fontSize: 18, color: '#0F172A', fontWeight: 'bold' }}&gt;Shaoyang Li &lt;Text style={{ fontSize: 14, color: '#10B981' }}&gt; · Testing 测试与验收&lt;/Text&gt;&lt;/Text&gt;&#10;          &lt;Text style={{ fontSize: 15, color: '#475569', lineHeight: 1.4, marginTop: 2 }}&gt;可度量验收标准 + JUnit 测试套件，当前 4/5 通过&lt;/Text&gt;&#10;        &lt;/Box&gt;&#10;      &lt;/Box&gt;&#10;      &lt;Box style={{ flexDirection: 'row', alignItems: 'center', gap: 14, background: '#FFFFFF', borderRadius: 14, padding: '12px 18px', boxShadow: '0 3px 14px rgba(0,0,0,0.05)' }}&gt;&#10;        &lt;Box style={{ width: 46, height: 46, borderRadius: 12, background: '#F59E0B', alignItems: 'center', justifyContent: 'center' }}&gt;&lt;Text style={{ fontSize: 19, color: '#FFFFFF', fontWeight: 'bold' }}&gt;SLiu&lt;/Text&gt;&lt;/Box&gt;&#10;        &lt;Box style={{ flex: 1 }}&gt;&#10;          &lt;Text style={{ fontSize: 18, color: '#0F172A', fontWeight: 'bold' }}&gt;Subo Liu &lt;Text style={{ fontSize: 14, color: '#F59E0B' }}&gt; · Integration 连接集成&lt;/Text&gt;&lt;/Text&gt;&#10;          &lt;Text style={{ fontSize: 15, color: '#475569', lineHeight: 1.4, marginTop: 2 }}&gt;correlationKey 消息关联、四方实例绑定与跨方联调&lt;/Text&gt;&#10;        &lt;/Box&gt;&#10;      &lt;/Box&gt;&#10;    &lt;/Box&gt;&#10;  &lt;/Box&gt;&#10;&#10;  &lt;Box style={{ height: 60, paddingLeft: 70, paddingRight: 70, flexDirection: 'row', justifyContent: 'space-between', alignItems: 'center' }}&gt;&#10;    &lt;Text style={{ fontSize: 14, color: '#94A3B8' }}&gt;Hospital Referral Process · Group Project&lt;/Text&gt;&#10;    &lt;Text style={{ fontSize: 14, color: '#94A3B8' }}&gt;02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/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666750" y="333375"/>
            <a:ext cx="3895725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Team &amp; Project Overview</a:t>
            </a:r>
          </a:p>
        </p:txBody>
      </p:sp>
      <p:sp>
        <p:nvSpPr>
          <p:cNvPr id="59" name="圆角矩形 58"/>
          <p:cNvSpPr/>
          <p:nvPr/>
        </p:nvSpPr>
        <p:spPr>
          <a:xfrm>
            <a:off x="9544050" y="466725"/>
            <a:ext cx="1981200" cy="323850"/>
          </a:xfrm>
          <a:prstGeom prst="roundRect">
            <a:avLst>
              <a:gd name="adj" fmla="val 58824"/>
            </a:avLst>
          </a:prstGeom>
          <a:solidFill>
            <a:srgbClr val="2563EB">
              <a:alpha val="1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" name="文本框 59" descr="{&quot;isTemplate&quot;:true,&quot;type&quot;:&quot;text&quot;}"/>
          <p:cNvSpPr txBox="1"/>
          <p:nvPr/>
        </p:nvSpPr>
        <p:spPr>
          <a:xfrm>
            <a:off x="9715500" y="542925"/>
            <a:ext cx="16383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5 Members · 1 Process</a:t>
            </a:r>
          </a:p>
        </p:txBody>
      </p:sp>
      <p:sp>
        <p:nvSpPr>
          <p:cNvPr id="61" name="圆角矩形 60"/>
          <p:cNvSpPr/>
          <p:nvPr/>
        </p:nvSpPr>
        <p:spPr>
          <a:xfrm>
            <a:off x="666750" y="1019175"/>
            <a:ext cx="3390900" cy="5143500"/>
          </a:xfrm>
          <a:prstGeom prst="roundRect">
            <a:avLst>
              <a:gd name="adj" fmla="val 5056"/>
            </a:avLst>
          </a:pr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</p:spPr>
        <p:txBody>
          <a:bodyPr/>
          <a:lstStyle/>
          <a:p>
            <a:endParaRPr/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933450" y="1314450"/>
            <a:ext cx="2857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DBEAFE"/>
                </a:solidFill>
                <a:latin typeface="微软雅黑" panose="020B0503020204020204" charset="-122"/>
                <a:ea typeface="微软雅黑" panose="020B0503020204020204" charset="-122"/>
              </a:rPr>
              <a:t>THE PROJECT</a:t>
            </a:r>
          </a:p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933450" y="1562100"/>
            <a:ext cx="2857500" cy="552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Referral</a:t>
            </a:r>
          </a:p>
        </p:txBody>
      </p:sp>
      <p:sp>
        <p:nvSpPr>
          <p:cNvPr id="64" name="文本框 63" descr="{&quot;isTemplate&quot;:true,&quot;type&quot;:&quot;text&quot;}"/>
          <p:cNvSpPr txBox="1"/>
          <p:nvPr/>
        </p:nvSpPr>
        <p:spPr>
          <a:xfrm>
            <a:off x="933450" y="2114550"/>
            <a:ext cx="2857500" cy="552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in 4 Parties</a:t>
            </a:r>
          </a:p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933450" y="5372100"/>
            <a:ext cx="28575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endParaRPr lang="en-US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圆角矩形 67"/>
          <p:cNvSpPr/>
          <p:nvPr>
            <p:custDataLst>
              <p:tags r:id="rId1"/>
            </p:custDataLst>
          </p:nvPr>
        </p:nvSpPr>
        <p:spPr>
          <a:xfrm>
            <a:off x="4305300" y="1647825"/>
            <a:ext cx="7219950" cy="704850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effectLst>
            <a:outerShdw blurRad="133350" dist="28575" dir="540000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9" name="圆角矩形 68"/>
          <p:cNvSpPr/>
          <p:nvPr>
            <p:custDataLst>
              <p:tags r:id="rId2"/>
            </p:custDataLst>
          </p:nvPr>
        </p:nvSpPr>
        <p:spPr>
          <a:xfrm>
            <a:off x="4476750" y="178117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6366F1"/>
          </a:solidFill>
        </p:spPr>
        <p:txBody>
          <a:bodyPr/>
          <a:lstStyle/>
          <a:p>
            <a:endParaRPr/>
          </a:p>
        </p:txBody>
      </p:sp>
      <p:sp>
        <p:nvSpPr>
          <p:cNvPr id="70" name="文本框 69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4572000" y="1895475"/>
            <a:ext cx="2476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CY</a:t>
            </a:r>
          </a:p>
        </p:txBody>
      </p:sp>
      <p:sp>
        <p:nvSpPr>
          <p:cNvPr id="71" name="文本框 70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5048250" y="1762125"/>
            <a:ext cx="63055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Charlie Ye  · BPMN Lead </a:t>
            </a:r>
            <a:endParaRPr lang="zh-CN"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圆角矩形 72"/>
          <p:cNvSpPr/>
          <p:nvPr>
            <p:custDataLst>
              <p:tags r:id="rId5"/>
            </p:custDataLst>
          </p:nvPr>
        </p:nvSpPr>
        <p:spPr>
          <a:xfrm>
            <a:off x="4305300" y="2457450"/>
            <a:ext cx="7219950" cy="704850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effectLst>
            <a:outerShdw blurRad="133350" dist="28575" dir="540000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4" name="圆角矩形 73"/>
          <p:cNvSpPr/>
          <p:nvPr>
            <p:custDataLst>
              <p:tags r:id="rId6"/>
            </p:custDataLst>
          </p:nvPr>
        </p:nvSpPr>
        <p:spPr>
          <a:xfrm>
            <a:off x="4476750" y="25908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563EB"/>
          </a:solidFill>
        </p:spPr>
        <p:txBody>
          <a:bodyPr/>
          <a:lstStyle/>
          <a:p>
            <a:endParaRPr/>
          </a:p>
        </p:txBody>
      </p:sp>
      <p:sp>
        <p:nvSpPr>
          <p:cNvPr id="75" name="文本框 74" descr="{&quot;isTemplate&quot;:true,&quot;type&quot;:&quot;text&quot;}"/>
          <p:cNvSpPr txBox="1"/>
          <p:nvPr>
            <p:custDataLst>
              <p:tags r:id="rId7"/>
            </p:custDataLst>
          </p:nvPr>
        </p:nvSpPr>
        <p:spPr>
          <a:xfrm>
            <a:off x="4591050" y="2705100"/>
            <a:ext cx="2095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ZJ</a:t>
            </a:r>
          </a:p>
        </p:txBody>
      </p:sp>
      <p:sp>
        <p:nvSpPr>
          <p:cNvPr id="76" name="文本框 75" descr="{&quot;isTemplate&quot;:true,&quot;type&quot;:&quot;text&quot;}"/>
          <p:cNvSpPr txBox="1"/>
          <p:nvPr>
            <p:custDataLst>
              <p:tags r:id="rId8"/>
            </p:custDataLst>
          </p:nvPr>
        </p:nvSpPr>
        <p:spPr>
          <a:xfrm>
            <a:off x="5048250" y="2571750"/>
            <a:ext cx="63055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Zongyao Jin  · Forms </a:t>
            </a:r>
            <a:endParaRPr lang="zh-CN"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圆角矩形 77"/>
          <p:cNvSpPr/>
          <p:nvPr>
            <p:custDataLst>
              <p:tags r:id="rId9"/>
            </p:custDataLst>
          </p:nvPr>
        </p:nvSpPr>
        <p:spPr>
          <a:xfrm>
            <a:off x="4305300" y="3267075"/>
            <a:ext cx="7219950" cy="704850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effectLst>
            <a:outerShdw blurRad="133350" dist="28575" dir="540000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9" name="圆角矩形 78"/>
          <p:cNvSpPr/>
          <p:nvPr>
            <p:custDataLst>
              <p:tags r:id="rId10"/>
            </p:custDataLst>
          </p:nvPr>
        </p:nvSpPr>
        <p:spPr>
          <a:xfrm>
            <a:off x="4476750" y="340042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0EA5E9"/>
          </a:solidFill>
        </p:spPr>
        <p:txBody>
          <a:bodyPr/>
          <a:lstStyle/>
          <a:p>
            <a:endParaRPr/>
          </a:p>
        </p:txBody>
      </p:sp>
      <p:sp>
        <p:nvSpPr>
          <p:cNvPr id="80" name="文本框 79" descr="{&quot;isTemplate&quot;:true,&quot;type&quot;:&quot;text&quot;}"/>
          <p:cNvSpPr txBox="1"/>
          <p:nvPr>
            <p:custDataLst>
              <p:tags r:id="rId11"/>
            </p:custDataLst>
          </p:nvPr>
        </p:nvSpPr>
        <p:spPr>
          <a:xfrm>
            <a:off x="4552950" y="3514725"/>
            <a:ext cx="2952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SM</a:t>
            </a:r>
          </a:p>
        </p:txBody>
      </p:sp>
      <p:sp>
        <p:nvSpPr>
          <p:cNvPr id="81" name="文本框 80" descr="{&quot;isTemplate&quot;:true,&quot;type&quot;:&quot;text&quot;}"/>
          <p:cNvSpPr txBox="1"/>
          <p:nvPr>
            <p:custDataLst>
              <p:tags r:id="rId12"/>
            </p:custDataLst>
          </p:nvPr>
        </p:nvSpPr>
        <p:spPr>
          <a:xfrm>
            <a:off x="5048250" y="3381375"/>
            <a:ext cx="63055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Steven Ma  · Code Java </a:t>
            </a:r>
            <a:endParaRPr lang="zh-CN"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圆角矩形 82"/>
          <p:cNvSpPr/>
          <p:nvPr>
            <p:custDataLst>
              <p:tags r:id="rId13"/>
            </p:custDataLst>
          </p:nvPr>
        </p:nvSpPr>
        <p:spPr>
          <a:xfrm>
            <a:off x="4305300" y="4076700"/>
            <a:ext cx="7219950" cy="704850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effectLst>
            <a:outerShdw blurRad="133350" dist="28575" dir="540000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4" name="圆角矩形 83"/>
          <p:cNvSpPr/>
          <p:nvPr>
            <p:custDataLst>
              <p:tags r:id="rId14"/>
            </p:custDataLst>
          </p:nvPr>
        </p:nvSpPr>
        <p:spPr>
          <a:xfrm>
            <a:off x="4476750" y="42100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85" name="文本框 84" descr="{&quot;isTemplate&quot;:true,&quot;type&quot;:&quot;text&quot;}"/>
          <p:cNvSpPr txBox="1"/>
          <p:nvPr>
            <p:custDataLst>
              <p:tags r:id="rId15"/>
            </p:custDataLst>
          </p:nvPr>
        </p:nvSpPr>
        <p:spPr>
          <a:xfrm>
            <a:off x="4591050" y="4324350"/>
            <a:ext cx="2095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SL</a:t>
            </a:r>
          </a:p>
        </p:txBody>
      </p:sp>
      <p:sp>
        <p:nvSpPr>
          <p:cNvPr id="86" name="文本框 85" descr="{&quot;isTemplate&quot;:true,&quot;type&quot;:&quot;text&quot;}"/>
          <p:cNvSpPr txBox="1"/>
          <p:nvPr>
            <p:custDataLst>
              <p:tags r:id="rId16"/>
            </p:custDataLst>
          </p:nvPr>
        </p:nvSpPr>
        <p:spPr>
          <a:xfrm>
            <a:off x="5048250" y="4191000"/>
            <a:ext cx="63055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Shaoyang Li  · Testing </a:t>
            </a:r>
            <a:endParaRPr lang="zh-CN"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圆角矩形 87"/>
          <p:cNvSpPr/>
          <p:nvPr>
            <p:custDataLst>
              <p:tags r:id="rId17"/>
            </p:custDataLst>
          </p:nvPr>
        </p:nvSpPr>
        <p:spPr>
          <a:xfrm>
            <a:off x="4305300" y="4886325"/>
            <a:ext cx="7219950" cy="704850"/>
          </a:xfrm>
          <a:prstGeom prst="roundRect">
            <a:avLst>
              <a:gd name="adj" fmla="val 18919"/>
            </a:avLst>
          </a:prstGeom>
          <a:solidFill>
            <a:srgbClr val="FFFFFF"/>
          </a:solidFill>
          <a:effectLst>
            <a:outerShdw blurRad="133350" dist="28575" dir="540000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9" name="圆角矩形 88"/>
          <p:cNvSpPr/>
          <p:nvPr>
            <p:custDataLst>
              <p:tags r:id="rId18"/>
            </p:custDataLst>
          </p:nvPr>
        </p:nvSpPr>
        <p:spPr>
          <a:xfrm>
            <a:off x="4476750" y="501967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59E0B"/>
          </a:solidFill>
        </p:spPr>
        <p:txBody>
          <a:bodyPr/>
          <a:lstStyle/>
          <a:p>
            <a:endParaRPr/>
          </a:p>
        </p:txBody>
      </p:sp>
      <p:sp>
        <p:nvSpPr>
          <p:cNvPr id="90" name="文本框 89" descr="{&quot;isTemplate&quot;:true,&quot;type&quot;:&quot;text&quot;}"/>
          <p:cNvSpPr txBox="1"/>
          <p:nvPr>
            <p:custDataLst>
              <p:tags r:id="rId19"/>
            </p:custDataLst>
          </p:nvPr>
        </p:nvSpPr>
        <p:spPr>
          <a:xfrm>
            <a:off x="4505325" y="5133975"/>
            <a:ext cx="3810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SLiu</a:t>
            </a:r>
          </a:p>
        </p:txBody>
      </p:sp>
      <p:sp>
        <p:nvSpPr>
          <p:cNvPr id="91" name="文本框 90" descr="{&quot;isTemplate&quot;:true,&quot;type&quot;:&quot;text&quot;}"/>
          <p:cNvSpPr txBox="1"/>
          <p:nvPr>
            <p:custDataLst>
              <p:tags r:id="rId20"/>
            </p:custDataLst>
          </p:nvPr>
        </p:nvSpPr>
        <p:spPr>
          <a:xfrm>
            <a:off x="5048250" y="5000625"/>
            <a:ext cx="63055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Subo Liu  · Integration </a:t>
            </a:r>
            <a:endParaRPr lang="zh-CN"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666750" y="6496050"/>
            <a:ext cx="25812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Hospital Referral Process · Group Project</a:t>
            </a:r>
          </a:p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11068050" y="6496050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F8FAFC' }}&gt;&#10;  &lt;Box style={{ height: 110, paddingTop: 20, paddingLeft: 70, paddingRight: 70, flexDirection: 'row', alignItems: 'center', justifyContent: 'space-between' }}&gt;&#10;    &lt;Box&gt;&#10;      &lt;Text style={{ fontSize: 32, fontWeight: 'bold', color: '#0F172A' }}&gt;Operational Diagram&lt;/Text&gt;&#10;      &lt;Text style={{ fontSize: 19, color: '#475569' }}&gt;操作流程图 · 四方协作全链路（BPMN 建模）&lt;/Text&gt;&#10;    &lt;/Box&gt;&#10;    &lt;Box style={{ background: '#6366F1', padding: '8px 16px', borderRadius: 18 }}&gt;&#10;      &lt;Text style={{ fontSize: 14, color: '#FFFFFF', fontWeight: 'bold' }}&gt;Charlie Ye · BPMN Lead&lt;/Text&gt;&#10;    &lt;/Box&gt;&#10;  &lt;/Box&gt;&#10;&#10;  &lt;Box style={{ height: 550, alignItems: 'center', justifyContent: 'center', paddingLeft: 20, paddingRight: 20 }}&gt;&#10;    &lt;Box style={{ width: 1160, height: 530, background: '#F8FAFC' }} /&gt;&#10;  &lt;/Box&gt;&#10;&#10;  &lt;Box style={{ height: 60, paddingLeft: 70, paddingRight: 70, flexDirection: 'row', justifyContent: 'space-between', alignItems: 'center' }}&gt;&#10;    &lt;Text style={{ fontSize: 14, color: '#94A3B8' }}&gt;实线 = 泳道内顺序 · 虚线 = 跨方消息（Camunda message correlation）&lt;/Text&gt;&#10;    &lt;Text style={{ fontSize: 14, color: '#94A3B8' }}&gt;03 / 10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矩形 9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/>
          </a:p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666750" y="323850"/>
            <a:ext cx="3648075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Operational Diagram</a:t>
            </a:r>
          </a:p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9791700" y="542925"/>
            <a:ext cx="15811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Charlie Ye ·BPMN Lead</a:t>
            </a:r>
          </a:p>
        </p:txBody>
      </p:sp>
      <p:sp>
        <p:nvSpPr>
          <p:cNvPr id="101" name="矩形 100"/>
          <p:cNvSpPr/>
          <p:nvPr/>
        </p:nvSpPr>
        <p:spPr>
          <a:xfrm>
            <a:off x="571500" y="1143000"/>
            <a:ext cx="11049000" cy="5048250"/>
          </a:xfrm>
          <a:prstGeom prst="rect">
            <a:avLst/>
          </a:prstGeom>
          <a:solidFill>
            <a:srgbClr val="F8FAFC"/>
          </a:solidFill>
        </p:spPr>
        <p:txBody>
          <a:bodyPr/>
          <a:lstStyle/>
          <a:p>
            <a:endParaRPr/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11068050" y="6496050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03 / 10</a:t>
            </a:r>
          </a:p>
        </p:txBody>
      </p:sp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845185" y="810895"/>
            <a:ext cx="10137775" cy="523684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5,&quot;left&quot;:339,&quot;top&quot;:129.75,&quot;width&quot;:568.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5,&quot;left&quot;:339,&quot;top&quot;:129.75,&quot;width&quot;:568.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5,&quot;left&quot;:339,&quot;top&quot;:129.75,&quot;width&quot;:568.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5,&quot;left&quot;:339,&quot;top&quot;:129.75,&quot;width&quot;:568.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5,&quot;left&quot;:339,&quot;top&quot;:129.75,&quot;width&quot;:568.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5,&quot;left&quot;:339,&quot;top&quot;:129.75,&quot;width&quot;:568.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5,&quot;left&quot;:339,&quot;top&quot;:129.75,&quot;width&quot;:568.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5,&quot;left&quot;:339,&quot;top&quot;:129.75,&quot;width&quot;:568.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5,&quot;left&quot;:339,&quot;top&quot;:129.75,&quot;width&quot;:568.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5,&quot;left&quot;:339,&quot;top&quot;:129.75,&quot;width&quot;:568.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5,&quot;left&quot;:339,&quot;top&quot;:129.75,&quot;width&quot;:568.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5,&quot;left&quot;:339,&quot;top&quot;:129.75,&quot;width&quot;:568.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5,&quot;left&quot;:339,&quot;top&quot;:129.75,&quot;width&quot;:568.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5,&quot;left&quot;:339,&quot;top&quot;:129.75,&quot;width&quot;:568.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5,&quot;left&quot;:339,&quot;top&quot;:129.75,&quot;width&quot;:568.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5,&quot;left&quot;:339,&quot;top&quot;:129.75,&quot;width&quot;:568.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5,&quot;left&quot;:339,&quot;top&quot;:129.75,&quot;width&quot;:568.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5,&quot;left&quot;:339,&quot;top&quot;:129.75,&quot;width&quot;:568.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5,&quot;left&quot;:339,&quot;top&quot;:129.75,&quot;width&quot;:568.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5,&quot;left&quot;:339,&quot;top&quot;:129.75,&quot;width&quot;:568.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108</Words>
  <Application>Microsoft Office PowerPoint</Application>
  <PresentationFormat>宽屏</PresentationFormat>
  <Paragraphs>31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微软雅黑</vt:lpstr>
      <vt:lpstr>Arial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Night Ye</cp:lastModifiedBy>
  <cp:revision>3</cp:revision>
  <dcterms:created xsi:type="dcterms:W3CDTF">2026-09-29T05:11:00Z</dcterms:created>
  <dcterms:modified xsi:type="dcterms:W3CDTF">2026-09-29T11:55:30Z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2052-12.1.0.28802</vt:lpwstr>
  </property>
  <property fmtid="{D5CDD505-2E9C-101B-9397-08002B2CF9AE}" pid="3" name="ICV">
    <vt:lpwstr>1B49480AAF994C9CB7C6C90CDAC4B241_12</vt:lpwstr>
  </property>
</Properties>
</file>