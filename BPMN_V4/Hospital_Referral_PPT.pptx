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5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6.xml"/><Relationship Id="rId9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0', background: '#FFFFFF', display: 'flex', flexDirection: 'column' }}&gt;&#10;  &lt;Box style={{ flex: 1, display: 'flex', flexDirection: 'row' }}&gt;&#10;    &lt;Box style={{ width: '52%', padding: '64px 56px', display: 'flex', flexDirection: 'column', justifyContent: 'center', background: '#F7F9FC' }}&gt;&#10;      &lt;Text style={{ fontSize: 14, color: '#3D7BD9', letterSpacing: 2, fontWeight: 'bold', marginBottom: 20 }}&gt;BUSINESS PROCESS MODELLING · ENTERPRISE ARCHITECTURE&lt;/Text&gt;&#10;      &lt;Text style={{ fontSize: 46, fontWeight: 'bold', color: '#0E3F8C', lineHeight: 1.12, marginBottom: 20 }}&gt;Hospital Patient Referral &amp;amp; Treatment Management&lt;/Text&gt;&#10;      &lt;Text style={{ fontSize: 21, color: '#4A5568', lineHeight: 1.5 }}&gt;BPMN v3 Process Model · i* Strategic Dependency &amp;amp; Rationale Diagrams · Response to Lecturer Feedback&lt;/Text&gt;&#10;      &lt;Box style={{ marginTop: 30, height: 4, width: 92, background: '#1E4FA8', borderRadius: 2 }} /&gt;&#10;      &lt;Text style={{ fontSize: 16, color: '#8B97A8', marginTop: 26 }}&gt;Group Project Portfolio · Week 6 Submission&lt;/Text&gt;&#10;    &lt;/Box&gt;&#10;    &lt;Box style={{ width: '48%', padding: '40px', display: 'flex', alignItems: 'center', justifyContent: 'center' }}&gt;&#10;      &lt;Image src=&quot;assets/bpmn_p1.png&quot; style={{ width: '100%', height: '76%', objectFit: 'contain', borderRadius: 8, border: '1px solid #E5E7EB' }} /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634365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33400" y="1533525"/>
            <a:ext cx="5276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BUSINESS PROCESS MODELLING · ENTERPRISE ARCHITECTURE</a:t>
            </a: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33400" y="1885950"/>
            <a:ext cx="5276850" cy="1771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34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Hospital Patient Referral &amp; Treatment Management</a:t>
            </a: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533400" y="3848100"/>
            <a:ext cx="527685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BPMN v4 Process Model · i* Strategic Dependency &amp; Rationale Diagrams 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533400" y="4857750"/>
            <a:ext cx="876300" cy="38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33400" y="5143500"/>
            <a:ext cx="52768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Week 6 Submission</a:t>
            </a:r>
          </a:p>
        </p:txBody>
      </p:sp>
      <p:sp>
        <p:nvSpPr>
          <p:cNvPr id="9" name="矩形 8"/>
          <p:cNvSpPr/>
          <p:nvPr/>
        </p:nvSpPr>
        <p:spPr>
          <a:xfrm>
            <a:off x="6724650" y="1114425"/>
            <a:ext cx="5086350" cy="462915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30805" r="30805"/>
          <a:stretch>
            <a:fillRect/>
          </a:stretch>
        </p:blipFill>
        <p:spPr>
          <a:xfrm>
            <a:off x="6724650" y="1114425"/>
            <a:ext cx="5086350" cy="4629150"/>
          </a:xfrm>
          <a:prstGeom prst="roundRect">
            <a:avLst>
              <a:gd name="adj" fmla="val 1646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579F23F-E3AA-04CE-A589-7F0797C482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>
            <a:endParaRPr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19156A-9213-2CCA-567A-020BE7E69FD4}"/>
              </a:ext>
            </a:extLst>
          </p:cNvPr>
          <p:cNvSpPr txBox="1"/>
          <p:nvPr/>
        </p:nvSpPr>
        <p:spPr>
          <a:xfrm>
            <a:off x="670998" y="647873"/>
            <a:ext cx="5694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Division of labor</a:t>
            </a:r>
            <a:endParaRPr lang="zh-CN" altLang="en-US" sz="3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1344E94-1C9B-839C-CDC0-14D4653A3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133041"/>
              </p:ext>
            </p:extLst>
          </p:nvPr>
        </p:nvGraphicFramePr>
        <p:xfrm>
          <a:off x="1282060" y="2403741"/>
          <a:ext cx="8127999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48747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758637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39519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Job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250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Charlie Ye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23084386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BPMN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 Coding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00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Steven Ma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23084388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SR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SD 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Coding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194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Shaoyang Li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22083638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Testing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983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Zongyao</a:t>
                      </a:r>
                      <a:r>
                        <a:rPr lang="en-US" altLang="zh-CN" dirty="0"/>
                        <a:t> Jin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23084390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Form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Dependency relationship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19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Subo Liu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SR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SD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16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70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8 }}&gt;&#10;    &lt;Text style={{ fontSize: 14, color: '#8B97A8', letterSpacing: 1 }}&gt;AGENDA&lt;/Text&gt;&#10;  &lt;/Box&gt;&#10;  &lt;Text style={{ fontSize: 34, fontWeight: 'bold', color: '#1E4FA8', marginBottom: 22 }}&gt;What This Portfolio Covers&lt;/Text&gt;&#10;  &lt;Box style={{ flex: 1, display: 'flex', flexDirection: 'column', gap: 16 }}&gt;&#10;    {[&#10;      ['01', 'Response to the Five Improvement Requirements', 'How each lecturer feedback point was addressed in BPMN v3'],&#10;      ['02', 'Strategic Dependency (SD) Diagram', 'The cross-actor dependency model and its 9 strategic links'],&#10;      ['03', 'Strategic Rationale (SR) Diagram', 'The internal goals, tasks and resources of each actor'],&#10;      ['04', 'How SD, SR &amp;amp; BPMN Connect', 'Mapping the strategic models onto the operational BPMN model'],&#10;    ].map(([n, t, d]) =&gt; (&#10;      &lt;Box key={n} style={{ display: 'flex', flexDirection: 'row', alignItems: 'center', gap: 22, padding: '16px 22px', background: '#F0F5FC', borderRadius: 10, border: '1px solid #E5E7EB' }}&gt;&#10;        &lt;Text style={{ fontSize: 34, fontWeight: 'bold', color: '#1E4FA8', width: 56 }}&gt;{n}&lt;/Text&gt;&#10;        &lt;Box&gt;&#10;          &lt;Text style={{ fontSize: 22, fontWeight: 'bold', color: '#0E3F8C' }}&gt;{t}&lt;/Text&gt;&#10;          &lt;Text style={{ fontSize: 16, color: '#4A5568' }}&gt;{d}&lt;/Text&gt;&#10;        &lt;/Box&gt;&#10;      &lt;/Box&gt;&#10;    ))}&#10;  &lt;/Box&gt;&#10;  &lt;Box style={{ marginTop: 10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0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5" name="任意多边形 124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AGENDA</a:t>
            </a: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457200" y="809625"/>
            <a:ext cx="112776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 dirty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What This Portfolio Covers</a:t>
            </a:r>
          </a:p>
        </p:txBody>
      </p:sp>
      <p:sp>
        <p:nvSpPr>
          <p:cNvPr id="128" name="圆角矩形 127"/>
          <p:cNvSpPr/>
          <p:nvPr/>
        </p:nvSpPr>
        <p:spPr>
          <a:xfrm>
            <a:off x="457200" y="1409700"/>
            <a:ext cx="11277600" cy="752475"/>
          </a:xfrm>
          <a:prstGeom prst="roundRect">
            <a:avLst>
              <a:gd name="adj" fmla="val 12658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>
            <p:custDataLst>
              <p:tags r:id="rId1"/>
            </p:custDataLst>
          </p:nvPr>
        </p:nvSpPr>
        <p:spPr>
          <a:xfrm>
            <a:off x="666750" y="1590675"/>
            <a:ext cx="533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130" name="文本框 129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1409700" y="1562100"/>
            <a:ext cx="52006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Response to the Five Improvement Requirements</a:t>
            </a:r>
          </a:p>
        </p:txBody>
      </p:sp>
      <p:sp>
        <p:nvSpPr>
          <p:cNvPr id="131" name="文本框 130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1409700" y="1819275"/>
            <a:ext cx="52006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How each lecturer feedback point was addressed in BPMN v4</a:t>
            </a:r>
          </a:p>
        </p:txBody>
      </p:sp>
      <p:sp>
        <p:nvSpPr>
          <p:cNvPr id="132" name="圆角矩形 131"/>
          <p:cNvSpPr/>
          <p:nvPr/>
        </p:nvSpPr>
        <p:spPr>
          <a:xfrm>
            <a:off x="457200" y="2314575"/>
            <a:ext cx="11277600" cy="752475"/>
          </a:xfrm>
          <a:prstGeom prst="roundRect">
            <a:avLst>
              <a:gd name="adj" fmla="val 12658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666750" y="2495550"/>
            <a:ext cx="533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134" name="文本框 133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1409700" y="2466975"/>
            <a:ext cx="4286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Strategic Dependency (SD) Diagram</a:t>
            </a:r>
          </a:p>
        </p:txBody>
      </p:sp>
      <p:sp>
        <p:nvSpPr>
          <p:cNvPr id="135" name="文本框 134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1409700" y="2724150"/>
            <a:ext cx="4286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The cross-actor dependency model and its 9 strategic links</a:t>
            </a:r>
          </a:p>
        </p:txBody>
      </p:sp>
      <p:sp>
        <p:nvSpPr>
          <p:cNvPr id="136" name="圆角矩形 135"/>
          <p:cNvSpPr/>
          <p:nvPr/>
        </p:nvSpPr>
        <p:spPr>
          <a:xfrm>
            <a:off x="457200" y="3219450"/>
            <a:ext cx="11277600" cy="752475"/>
          </a:xfrm>
          <a:prstGeom prst="roundRect">
            <a:avLst>
              <a:gd name="adj" fmla="val 12658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666750" y="3400425"/>
            <a:ext cx="533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138" name="文本框 137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1409700" y="3371850"/>
            <a:ext cx="38004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Strategic Rationale (SR) Diagram</a:t>
            </a:r>
          </a:p>
        </p:txBody>
      </p:sp>
      <p:sp>
        <p:nvSpPr>
          <p:cNvPr id="139" name="文本框 138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1409700" y="3629025"/>
            <a:ext cx="38004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The internal goals, tasks and resources of each actor</a:t>
            </a:r>
          </a:p>
        </p:txBody>
      </p:sp>
      <p:sp>
        <p:nvSpPr>
          <p:cNvPr id="140" name="圆角矩形 139"/>
          <p:cNvSpPr/>
          <p:nvPr/>
        </p:nvSpPr>
        <p:spPr>
          <a:xfrm>
            <a:off x="457200" y="4124325"/>
            <a:ext cx="11277600" cy="752475"/>
          </a:xfrm>
          <a:prstGeom prst="roundRect">
            <a:avLst>
              <a:gd name="adj" fmla="val 12658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666750" y="4305300"/>
            <a:ext cx="533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142" name="文本框 141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1409700" y="4276725"/>
            <a:ext cx="4762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How SD, SR &amp;amp; BPMN Connect</a:t>
            </a:r>
          </a:p>
        </p:txBody>
      </p:sp>
      <p:sp>
        <p:nvSpPr>
          <p:cNvPr id="143" name="文本框 142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1409700" y="4533900"/>
            <a:ext cx="4762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Mapping the strategic models onto the operational BPMN model</a:t>
            </a:r>
          </a:p>
        </p:txBody>
      </p:sp>
      <p:sp>
        <p:nvSpPr>
          <p:cNvPr id="144" name="任意多边形 143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02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0E3F8C', display: 'flex', flexDirection: 'column', justifyContent: 'center' }}&gt;&#10;  &lt;Text style={{ fontSize: 140, fontWeight: 'bold', color: '#FFFFFF', opacity: 0.18, marginBottom: -10 }}&gt;01&lt;/Text&gt;&#10;  &lt;Text style={{ fontSize: 40, fontWeight: 'bold', color: '#FFFFFF', marginBottom: 18 }}&gt;Part 1 — Response to the Five Improvement Requirements&lt;/Text&gt;&#10;  &lt;Box style={{ width: 110, height: 4, background: '#3D7BD9', borderRadius: 2, marginBottom: 22 }} /&gt;&#10;  &lt;Box style={{ display: 'flex', flexDirection: 'column', gap: 12 }}&gt;&#10;    &lt;Text style={{ fontSize: 19, color: '#D6E2F5' }}&gt;• The assignment was built as a BPMN v3 process model of the referral pathway.&lt;/Text&gt;&#10;    &lt;Text style={{ fontSize: 19, color: '#D6E2F5' }}&gt;• The lecturer returned 5 improvement requirements (RBAC, form validation, service workers, merging gateways, data persistence).&lt;/Text&gt;&#10;    &lt;Text style={{ fontSize: 19, color: '#D6E2F5' }}&gt;• Each following slide shows what we changed and the BPMN / i* evidence.&lt;/Text&gt;&#10;  &lt;/Box&gt;&#10;  &lt;Box style={{ position: 'absolute', bottom: 28, right: 48 }}&gt;&#10;    &lt;Text style={{ fontSize: 14, color: '#9DB6DD' }}&gt;03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矩形 1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457200" y="3190875"/>
            <a:ext cx="112776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Part 1 — Response to the Five Improvement Requirements</a:t>
            </a:r>
          </a:p>
        </p:txBody>
      </p:sp>
      <p:sp>
        <p:nvSpPr>
          <p:cNvPr id="150" name="圆角矩形 149"/>
          <p:cNvSpPr/>
          <p:nvPr/>
        </p:nvSpPr>
        <p:spPr>
          <a:xfrm>
            <a:off x="457200" y="3819525"/>
            <a:ext cx="104775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lstStyle/>
          <a:p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457200" y="4067175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dirty="0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The assignment was built as a BPMN v4 process model of the referral pathway.</a:t>
            </a: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457200" y="4400550"/>
            <a:ext cx="112776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The lecturer returned 5 improvement requirements (RBAC, form validation, service workers, merging gateways, data persistence).</a:t>
            </a: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457200" y="4953000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Each following slide shows what we changed and the BPMN / i* evidence.</a:t>
            </a:r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457200" y="1685925"/>
            <a:ext cx="11277600" cy="1600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0" b="1" dirty="0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1277600" y="64293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9DB6DD"/>
                </a:solidFill>
                <a:latin typeface="微软雅黑" panose="020B0503020204020204" charset="-122"/>
                <a:ea typeface="微软雅黑" panose="020B0503020204020204" charset="-122"/>
              </a:rPr>
              <a:t>03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1 · CONTEXT&lt;/Text&gt;&#10;  &lt;/Box&gt;&#10;  &lt;Text style={{ fontSize: 32, fontWeight: 'bold', color: '#1E4FA8', marginBottom: 14 }}&gt;The Assignment &amp;amp; The Five Requirements&lt;/Text&gt;&#10;  &lt;Box style={{ display: 'flex', flexDirection: 'row', gap: 28, flex: 1 }}&gt;&#10;    &lt;Box style={{ width: '38%', padding: '20px 22px', background: '#F0F5FC', borderRadius: 10, border: '1px solid #E5E7EB' }}&gt;&#10;      &lt;Text style={{ fontSize: 19, fontWeight: 'bold', color: '#0E3F8C', marginBottom: 10 }}&gt;Context&lt;/Text&gt;&#10;      &lt;Text style={{ fontSize: 17, color: '#4A5568', lineHeight: 1.55 }}&gt;We modelled the hospital patient referral &amp;amp; treatment process as &lt;span style={{ fontWeight: 'bold', color: '#1E4FA8' }}&gt;BPMN v3&lt;/span&gt; (4 pools, 7 lanes, 5 service tasks, 13 gateways, a data store), supported by &lt;span style={{ fontWeight: 'bold', color: '#1E4FA8' }}&gt;i* SD / SR&lt;/span&gt; strategic models. The lecturer then asked us to strengthen five areas.&lt;/Text&gt;&#10;    &lt;/Box&gt;&#10;    &lt;Box style={{ flex: 1, display: 'flex', flexDirection: 'column', gap: 10 }}&gt;&#10;      {[&#10;        ['1', 'Implement role-based access control'],&#10;        ['2', 'Strengthen form validation to prevent missing or invalid inputs'],&#10;        ['3', 'Implement the required business logic in service workers'],&#10;        ['4', 'Use merging gateways where appropriate to bring process paths together'],&#10;        ['5', 'Implement data persistence to store and retrieve application data'],&#10;      ].map(([n, t]) =&gt; (&#10;        &lt;Box key={n} style={{ display: 'flex', flexDirection: 'row', alignItems: 'center', gap: 14, padding: '12px 16px', background: '#FFFFFF', borderRadius: 8, border: '1px solid #D6DCE5' }}&gt;&#10;          &lt;Box style={{ width: 34, height: 34, borderRadius: 6, background: '#1E4FA8', display: 'flex', alignItems: 'center', justifyContent: 'center', flexShrink: 0 }}&gt;&#10;            &lt;Text style={{ fontSize: 18, fontWeight: 'bold', color: '#FFFFFF' }}&gt;{n}&lt;/Text&gt;&#10;          &lt;/Box&gt;&#10;          &lt;Text style={{ fontSize: 17, color: '#1A2230' }}&gt;{t}&lt;/Text&gt;&#10;        &lt;/Box&gt;&#10;      ))}&#10;    &lt;/Box&gt;&#10;  &lt;/Box&gt;&#10;  &lt;Box style={{ marginTop: 12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0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矩形 1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8" name="任意多边形 157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1 · CONTEXT</a:t>
            </a: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457200" y="790575"/>
            <a:ext cx="112776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The Assignment &amp; The Five Requirements</a:t>
            </a:r>
          </a:p>
        </p:txBody>
      </p:sp>
      <p:sp>
        <p:nvSpPr>
          <p:cNvPr id="161" name="圆角矩形 160"/>
          <p:cNvSpPr/>
          <p:nvPr/>
        </p:nvSpPr>
        <p:spPr>
          <a:xfrm>
            <a:off x="457200" y="1295400"/>
            <a:ext cx="4286250" cy="4848225"/>
          </a:xfrm>
          <a:prstGeom prst="roundRect">
            <a:avLst>
              <a:gd name="adj" fmla="val 2222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666750" y="1485900"/>
            <a:ext cx="38671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Context</a:t>
            </a: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66750" y="1800225"/>
            <a:ext cx="3867150" cy="1514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We modelled the hospital patient referral &amp; treatment process as </a:t>
            </a: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BPMN v4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(4 pools, 7 lanes, 5 service tasks, 13 gateways, a data store), supported by </a:t>
            </a:r>
            <a:r>
              <a:rPr lang="en-US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i* SD / SR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strategic models. The lecturer then asked us to strengthen five areas.</a:t>
            </a:r>
          </a:p>
        </p:txBody>
      </p:sp>
      <p:sp>
        <p:nvSpPr>
          <p:cNvPr id="164" name="圆角矩形 163"/>
          <p:cNvSpPr/>
          <p:nvPr/>
        </p:nvSpPr>
        <p:spPr>
          <a:xfrm>
            <a:off x="5010150" y="1295400"/>
            <a:ext cx="6724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圆角矩形 164"/>
          <p:cNvSpPr/>
          <p:nvPr/>
        </p:nvSpPr>
        <p:spPr>
          <a:xfrm>
            <a:off x="5162550" y="14097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267325" y="1466850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5619750" y="1476375"/>
            <a:ext cx="2857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Implement role-based access control</a:t>
            </a:r>
          </a:p>
        </p:txBody>
      </p:sp>
      <p:sp>
        <p:nvSpPr>
          <p:cNvPr id="168" name="圆角矩形 167"/>
          <p:cNvSpPr/>
          <p:nvPr/>
        </p:nvSpPr>
        <p:spPr>
          <a:xfrm>
            <a:off x="5010150" y="1943100"/>
            <a:ext cx="6724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" name="圆角矩形 168"/>
          <p:cNvSpPr/>
          <p:nvPr/>
        </p:nvSpPr>
        <p:spPr>
          <a:xfrm>
            <a:off x="5162550" y="20574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5267325" y="2114550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5619750" y="2124075"/>
            <a:ext cx="48672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Strengthen form validation to prevent missing or invalid inputs</a:t>
            </a:r>
          </a:p>
        </p:txBody>
      </p:sp>
      <p:sp>
        <p:nvSpPr>
          <p:cNvPr id="172" name="圆角矩形 171"/>
          <p:cNvSpPr/>
          <p:nvPr/>
        </p:nvSpPr>
        <p:spPr>
          <a:xfrm>
            <a:off x="5010150" y="2590800"/>
            <a:ext cx="6724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3" name="圆角矩形 172"/>
          <p:cNvSpPr/>
          <p:nvPr/>
        </p:nvSpPr>
        <p:spPr>
          <a:xfrm>
            <a:off x="5162550" y="27051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5267325" y="2762250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5619750" y="2771775"/>
            <a:ext cx="44100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Implement the required business logic in service workers</a:t>
            </a:r>
          </a:p>
        </p:txBody>
      </p:sp>
      <p:sp>
        <p:nvSpPr>
          <p:cNvPr id="176" name="圆角矩形 175"/>
          <p:cNvSpPr/>
          <p:nvPr/>
        </p:nvSpPr>
        <p:spPr>
          <a:xfrm>
            <a:off x="5010150" y="3238500"/>
            <a:ext cx="6724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7" name="圆角矩形 176"/>
          <p:cNvSpPr/>
          <p:nvPr/>
        </p:nvSpPr>
        <p:spPr>
          <a:xfrm>
            <a:off x="5162550" y="33528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5267325" y="3409950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5619750" y="3419475"/>
            <a:ext cx="57340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Use merging gateways where appropriate to bring process paths together</a:t>
            </a:r>
          </a:p>
        </p:txBody>
      </p:sp>
      <p:sp>
        <p:nvSpPr>
          <p:cNvPr id="180" name="圆角矩形 179"/>
          <p:cNvSpPr/>
          <p:nvPr/>
        </p:nvSpPr>
        <p:spPr>
          <a:xfrm>
            <a:off x="5010150" y="3886200"/>
            <a:ext cx="6724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1" name="圆角矩形 180"/>
          <p:cNvSpPr/>
          <p:nvPr/>
        </p:nvSpPr>
        <p:spPr>
          <a:xfrm>
            <a:off x="5162550" y="40005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5267325" y="4057650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5619750" y="4067175"/>
            <a:ext cx="50768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Implement data persistence to store and retrieve application data</a:t>
            </a:r>
          </a:p>
        </p:txBody>
      </p:sp>
      <p:sp>
        <p:nvSpPr>
          <p:cNvPr id="184" name="任意多边形 183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04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1 · REQUIREMENT 1&lt;/Text&gt;&#10;  &lt;/Box&gt;&#10;  &lt;Text style={{ fontSize: 30, fontWeight: 'bold', color: '#1E4FA8', marginBottom: 16 }}&gt;1 · Implement Role-Based Access Control&lt;/Text&gt;&#10;  &lt;Box style={{ flex: 1, display: 'flex', flexDirection: 'row', gap: 28 }}&gt;&#10;    &lt;Box style={{ width: '48%', display: 'flex', flexDirection: 'column', gap: 16 }}&gt;&#10;      &lt;Box style={{ padding: '16px 20px', background: '#F0F5FC', borderRadius: 10, border: '1px solid #E5E7EB' }}&gt;&#10;        &lt;Text style={{ fontSize: 16, fontWeight: 'bold', color: '#0E3F8C', marginBottom: 6 }}&gt;The Requirement (verbatim)&lt;/Text&gt;&#10;        &lt;Text style={{ fontSize: 18, color: '#1A2230', fontStyle: 'italic' }}&gt;&quot;Implement role-based access control&quot;&lt;/Text&gt;&#10;      &lt;/Box&gt;&#10;      &lt;Box style={{ padding: '16px 20px', background: '#F0F5FC', borderRadius: 10, border: '1px solid #E5E7EB' }}&gt;&#10;        &lt;Text style={{ fontSize: 16, fontWeight: 'bold', color: '#0E3F8C', marginBottom: 6 }}&gt;i* Strategic Link&lt;/Text&gt;&#10;        &lt;Text style={{ fontSize: 16, color: '#4A5568', lineHeight: 1.5 }}&gt;Each i* actor boundary is a role boundary. The &lt;span style={{ fontWeight: 'bold', color: '#1E4FA8' }}&gt;Consent Decision&lt;/span&gt; dependency Hospital →(Goal)→ Patient marks the patient role. The 4 BPMN pools = 4 role types.&lt;/Text&gt;&#10;      &lt;/Box&gt;&#10;    &lt;/Box&gt;&#10;    &lt;Box style={{ flex: 1, display: 'flex', flexDirection: 'column', gap: 16 }}&gt;&#10;      &lt;Box style={{ padding: '16px 20px', background: '#FFFFFF', borderRadius: 10, border: '1px solid #D6DCE5' }}&gt;&#10;        &lt;Text style={{ fontSize: 16, fontWeight: 'bold', color: '#0E3F8C', marginBottom: 6 }}&gt;What We Did&lt;/Text&gt;&#10;        &lt;Text style={{ fontSize: 16, color: '#4A5568', lineHeight: 1.5 }}&gt;Added role-based login and permission checks: after login, each party (Referring Organisation, Hospital, Patient, External Payment &amp;amp; Funding Providers) can view and operate only the functions and data within its own scope.&lt;/Text&gt;&#10;      &lt;/Box&gt;&#10;      &lt;Box style={{ padding: '16px 20px', background: '#FFFFFF', borderRadius: 10, border: '1px solid #D6DCE5' }}&gt;&#10;        &lt;Text style={{ fontSize: 16, fontWeight: 'bold', color: '#0E3F8C', marginBottom: 6 }}&gt;BPMN v3 Evidence&lt;/Text&gt;&#10;        &lt;Text style={{ fontSize: 16, color: '#4A5568', lineHeight: 1.5 }}&gt;4 pools and 4 internal Hospital lanes enforce separation. In Camunda Operate each party has independent Process Definitions and Instances — see screenshots &lt;span style={{ fontWeight: 'bold', color: '#1E4FA8' }}&gt;E-10, E-AT-02, E-AT-08&lt;/span&gt;.&lt;/Text&gt;&#10;      &lt;/Box&gt;&#10;    &lt;/Box&gt;&#10;  &lt;/Box&gt;&#10;  &lt;Box style={{ marginTop: 12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0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矩形 1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9" name="任意多边形 188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1 · REQUIREMENT 1</a:t>
            </a: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457200" y="790575"/>
            <a:ext cx="112776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 · Implement Role-Based Access Control</a:t>
            </a:r>
          </a:p>
        </p:txBody>
      </p:sp>
      <p:sp>
        <p:nvSpPr>
          <p:cNvPr id="192" name="圆角矩形 191"/>
          <p:cNvSpPr/>
          <p:nvPr/>
        </p:nvSpPr>
        <p:spPr>
          <a:xfrm>
            <a:off x="457200" y="1285875"/>
            <a:ext cx="5410200" cy="76200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47700" y="1438275"/>
            <a:ext cx="5029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The Requirement (verbatim)</a:t>
            </a: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647700" y="1685925"/>
            <a:ext cx="5029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i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"Implement role-based access control"</a:t>
            </a:r>
          </a:p>
        </p:txBody>
      </p:sp>
      <p:sp>
        <p:nvSpPr>
          <p:cNvPr id="195" name="圆角矩形 194"/>
          <p:cNvSpPr/>
          <p:nvPr/>
        </p:nvSpPr>
        <p:spPr>
          <a:xfrm>
            <a:off x="457200" y="2200275"/>
            <a:ext cx="5410200" cy="1381125"/>
          </a:xfrm>
          <a:prstGeom prst="roundRect">
            <a:avLst>
              <a:gd name="adj" fmla="val 6897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47700" y="2352675"/>
            <a:ext cx="5029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i* Strategic Link</a:t>
            </a: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47700" y="2600325"/>
            <a:ext cx="5029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Each i* actor boundary is a role boundary. The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Consent Decision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dependency Hospital →(Goal)→ Patient marks the patient role. The 4 BPMN pools = 4 role types.</a:t>
            </a:r>
          </a:p>
        </p:txBody>
      </p:sp>
      <p:sp>
        <p:nvSpPr>
          <p:cNvPr id="198" name="圆角矩形 197"/>
          <p:cNvSpPr/>
          <p:nvPr/>
        </p:nvSpPr>
        <p:spPr>
          <a:xfrm>
            <a:off x="6134100" y="1285875"/>
            <a:ext cx="5600700" cy="165735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324600" y="1438275"/>
            <a:ext cx="5219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What We Did</a:t>
            </a: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6324600" y="1685925"/>
            <a:ext cx="5219700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Added role-based login and permission checks: after login, each party (Referring Organisation, Hospital, Patient, External Payment &amp; Funding Providers) can view and operate only the functions and data within its own scope.</a:t>
            </a:r>
          </a:p>
        </p:txBody>
      </p:sp>
      <p:sp>
        <p:nvSpPr>
          <p:cNvPr id="201" name="圆角矩形 200"/>
          <p:cNvSpPr/>
          <p:nvPr/>
        </p:nvSpPr>
        <p:spPr>
          <a:xfrm>
            <a:off x="6134100" y="3095625"/>
            <a:ext cx="5600700" cy="13811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6324600" y="3248025"/>
            <a:ext cx="5219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BPMN v4 Evidence</a:t>
            </a: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6324600" y="3495675"/>
            <a:ext cx="52197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4 pools and 4 internal Hospital lanes enforce separation. In Camunda Operate each party has independent Process Definitions and Instances — see screenshots</a:t>
            </a:r>
          </a:p>
        </p:txBody>
      </p:sp>
      <p:sp>
        <p:nvSpPr>
          <p:cNvPr id="204" name="任意多边形 203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05 / 18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05" y="3733800"/>
            <a:ext cx="4676775" cy="2371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1 · REQUIREMENT 2&lt;/Text&gt;&#10;  &lt;/Box&gt;&#10;  &lt;Box style={{ display: 'flex', flexDirection: 'row', gap: 28, flex: 1 }}&gt;&#10;    &lt;Box style={{ width: '32%', background: '#0E3F8C', borderRadius: 12, padding: '22px 24px', display: 'flex', flexDirection: 'column', justifyContent: 'center' }}&gt;&#10;      &lt;Text style={{ fontSize: 56, fontWeight: 'bold', color: '#FFFFFF' }}&gt;R2&lt;/Text&gt;&#10;      &lt;Text style={{ fontSize: 19, fontWeight: 'bold', color: '#FFFFFF', marginTop: 8, lineHeight: 1.3 }}&gt;Strengthen Form Validation&lt;/Text&gt;&#10;      &lt;Text style={{ fontSize: 14, color: '#9DB6DD', marginTop: 10, lineHeight: 1.5 }}&gt;Prevent missing or invalid inputs on referral, payment and appointment forms.&lt;/Text&gt;&#10;    &lt;/Box&gt;&#10;    &lt;Box style={{ flex: 1, display: 'flex', flexDirection: 'column', gap: 14 }}&gt;&#10;      &lt;Box style={{ padding: '15px 18px', background: '#FFFFFF', borderRadius: 10, border: '1px solid #D6DCE5' }}&gt;&#10;        &lt;Text style={{ fontSize: 16, fontWeight: 'bold', color: '#0E3F8C', marginBottom: 6 }}&gt;What We Did&lt;/Text&gt;&#10;        &lt;Text style={{ fontSize: 16, color: '#4A5568', lineHeight: 1.5 }}&gt;Added required-field and format validation to the referral, payment and appointment forms (Enter Referral Details, Provide Payment or Funding Information, Book Initial Appointment, …).&lt;/Text&gt;&#10;      &lt;/Box&gt;&#10;      &lt;Box style={{ padding: '15px 18px', background: '#FFFFFF', borderRadius: 10, border: '1px solid #D6DCE5' }}&gt;&#10;        &lt;Text style={{ fontSize: 16, fontWeight: 'bold', color: '#0E3F8C', marginBottom: 6 }}&gt;BPMN v3 Evidence&lt;/Text&gt;&#10;        &lt;Text style={{ fontSize: 16, color: '#4A5568', lineHeight: 1.5 }}&gt;Tasks &lt;span style={{ fontWeight: 'bold', color: '#1E4FA8' }}&gt;Enter Referral Details / Check Referral Documents / Recheck Referral Documents&lt;/span&gt; with an &quot;incomplete information&quot; loop that blocks continuation until complete.&lt;/Text&gt;&#10;      &lt;/Box&gt;&#10;      &lt;Box style={{ padding: '15px 18px', background: '#E8EFF8', borderRadius: 10, border: '1px solid #BFD3EF' }}&gt;&#10;        &lt;Text style={{ fontSize: 16, fontWeight: 'bold', color: '#0E3F8C', marginBottom: 4 }}&gt;Test Result&lt;/Text&gt;&#10;        &lt;Text style={{ fontSize: 16, color: '#1A2230', lineHeight: 1.5 }}&gt;No validation failures occurred; all required-field and format rules worked as expected.&lt;/Text&gt;&#10;      &lt;/Box&gt;&#10;    &lt;/Box&gt;&#10;  &lt;/Box&gt;&#10;  &lt;Box style={{ marginTop: 12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0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矩形 2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09" name="任意多边形 208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1 · REQUIREMENT 2</a:t>
            </a:r>
          </a:p>
        </p:txBody>
      </p:sp>
      <p:sp>
        <p:nvSpPr>
          <p:cNvPr id="211" name="圆角矩形 210"/>
          <p:cNvSpPr/>
          <p:nvPr/>
        </p:nvSpPr>
        <p:spPr>
          <a:xfrm>
            <a:off x="457200" y="790575"/>
            <a:ext cx="3609975" cy="5353050"/>
          </a:xfrm>
          <a:prstGeom prst="roundRect">
            <a:avLst>
              <a:gd name="adj" fmla="val 3166"/>
            </a:avLst>
          </a:prstGeom>
          <a:solidFill>
            <a:srgbClr val="0E3F8C"/>
          </a:solidFill>
        </p:spPr>
        <p:txBody>
          <a:bodyPr/>
          <a:lstStyle/>
          <a:p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685800" y="2676525"/>
            <a:ext cx="3152775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R2</a:t>
            </a: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685800" y="3400425"/>
            <a:ext cx="31527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Strengthen Form Validation</a:t>
            </a: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685800" y="3781425"/>
            <a:ext cx="315277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9DB6DD"/>
                </a:solidFill>
                <a:latin typeface="微软雅黑" panose="020B0503020204020204" charset="-122"/>
                <a:ea typeface="微软雅黑" panose="020B0503020204020204" charset="-122"/>
              </a:rPr>
              <a:t>Prevent missing or invalid inputs on referral, payment and appointment forms.</a:t>
            </a:r>
          </a:p>
        </p:txBody>
      </p:sp>
      <p:sp>
        <p:nvSpPr>
          <p:cNvPr id="215" name="圆角矩形 214"/>
          <p:cNvSpPr/>
          <p:nvPr>
            <p:custDataLst>
              <p:tags r:id="rId1"/>
            </p:custDataLst>
          </p:nvPr>
        </p:nvSpPr>
        <p:spPr>
          <a:xfrm>
            <a:off x="4333875" y="790575"/>
            <a:ext cx="7400925" cy="1085850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4505325" y="933450"/>
            <a:ext cx="70580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What We Did</a:t>
            </a:r>
          </a:p>
        </p:txBody>
      </p:sp>
      <p:sp>
        <p:nvSpPr>
          <p:cNvPr id="217" name="文本框 216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4505325" y="1181100"/>
            <a:ext cx="70580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Added required-field and format validation to the referral, payment and appointment forms (Enter Referral Details, Provide Payment or Funding Information, Book Initial Appointment, …).</a:t>
            </a:r>
          </a:p>
        </p:txBody>
      </p:sp>
      <p:sp>
        <p:nvSpPr>
          <p:cNvPr id="218" name="圆角矩形 217"/>
          <p:cNvSpPr/>
          <p:nvPr>
            <p:custDataLst>
              <p:tags r:id="rId4"/>
            </p:custDataLst>
          </p:nvPr>
        </p:nvSpPr>
        <p:spPr>
          <a:xfrm>
            <a:off x="4333875" y="2009775"/>
            <a:ext cx="7400925" cy="1085850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505325" y="2152650"/>
            <a:ext cx="70580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BPMN v4 Evidence</a:t>
            </a:r>
          </a:p>
        </p:txBody>
      </p:sp>
      <p:sp>
        <p:nvSpPr>
          <p:cNvPr id="220" name="文本框 219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4505325" y="2400300"/>
            <a:ext cx="70580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Tasks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Enter Referral Details / Check Referral Documents / Recheck Referral Documents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with an "incomplete information" loop that blocks continuation until complete.</a:t>
            </a:r>
          </a:p>
        </p:txBody>
      </p:sp>
      <p:sp>
        <p:nvSpPr>
          <p:cNvPr id="221" name="圆角矩形 220"/>
          <p:cNvSpPr/>
          <p:nvPr>
            <p:custDataLst>
              <p:tags r:id="rId7"/>
            </p:custDataLst>
          </p:nvPr>
        </p:nvSpPr>
        <p:spPr>
          <a:xfrm>
            <a:off x="4333875" y="3228975"/>
            <a:ext cx="7400925" cy="790575"/>
          </a:xfrm>
          <a:prstGeom prst="roundRect">
            <a:avLst>
              <a:gd name="adj" fmla="val 12048"/>
            </a:avLst>
          </a:prstGeom>
          <a:solidFill>
            <a:srgbClr val="E8EFF8"/>
          </a:solidFill>
          <a:ln w="12700">
            <a:solidFill>
              <a:srgbClr val="BFD3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文本框 221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4505325" y="3371850"/>
            <a:ext cx="70580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Test Result</a:t>
            </a:r>
          </a:p>
        </p:txBody>
      </p:sp>
      <p:sp>
        <p:nvSpPr>
          <p:cNvPr id="223" name="文本框 222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4505325" y="3600450"/>
            <a:ext cx="70580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No validation failures occurred; all required-field and format rules worked as expected.</a:t>
            </a:r>
          </a:p>
        </p:txBody>
      </p:sp>
      <p:sp>
        <p:nvSpPr>
          <p:cNvPr id="224" name="任意多边形 223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06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1 · REQUIREMENT 3&lt;/Text&gt;&#10;  &lt;/Box&gt;&#10;  &lt;Text style={{ fontSize: 30, fontWeight: 'bold', color: '#1E4FA8', marginBottom: 8 }}&gt;3 · Business Logic in Service Workers&lt;/Text&gt;&#10;  &lt;Box style={{ flex: 1, display: 'flex', flexDirection: 'row', alignItems: 'stretch', gap: 40 }}&gt;&#10;    &lt;Box style={{ width: '38%', display: 'flex', flexDirection: 'column', alignItems: 'center', justifyContent: 'center' }}&gt;&#10;      &lt;Text style={{ fontSize: 140, fontWeight: 'bold', color: '#1E4FA8', lineHeight: 1 }}&gt;5&lt;/Text&gt;&#10;      &lt;Text style={{ fontSize: 22, fontWeight: 'bold', color: '#0E3F8C', marginTop: -6 }}&gt;service tasks&lt;/Text&gt;&#10;      &lt;Text style={{ fontSize: 16, color: '#4A5568', marginTop: 6, textAlign: 'center' }}&gt;execute the core business logic in the process engine&lt;/Text&gt;&#10;    &lt;/Box&gt;&#10;    &lt;Box style={{ flex: 1, display: 'flex', flexDirection: 'column', gap: 12 }}&gt;&#10;      &lt;Text style={{ fontSize: 17, fontWeight: 'bold', color: '#0E3F8C' }}&gt;What We Did&lt;/Text&gt;&#10;      &lt;Text style={{ fontSize: 16, color: '#4A5568', lineHeight: 1.5 }}&gt;Pushed business logic down into 5 workflow service tasks, all marked &lt;span style={{ fontWeight: 'bold', color: '#1E4FA8' }}&gt;isExecutable = true&lt;/span&gt;:&lt;/Text&gt;&#10;      &lt;Box style={{ display: 'flex', flexWrap: 'wrap', gap: 10 }}&gt;&#10;        {['Create Referral Record', 'Store Treatment Results', 'Record Clinical Decision', 'Store Treatment Request', 'Process Payment / Funding'].map((s) =&gt; (&#10;          &lt;Box key={s} style={{ padding: '8px 14px', background: '#F0F5FC', borderRadius: 8, border: '1px solid #D6DCE5' }}&gt;&#10;            &lt;Text style={{ fontSize: 15, color: '#0E3F8C', fontWeight: 'bold' }}&gt;{s}&lt;/Text&gt;&#10;          &lt;/Box&gt;&#10;        ))}&#10;      &lt;/Box&gt;&#10;      &lt;Box style={{ padding: '14px 18px', background: '#E8EFF8', borderRadius: 10, border: '1px solid #BFD3EF', marginTop: 4 }}&gt;&#10;        &lt;Text style={{ fontSize: 16, color: '#1A2230', lineHeight: 1.5 }}&gt;Verified by service-task execution log &lt;span style={{ fontWeight: 'bold', color: '#1E4FA8' }}&gt;E-AT-16&lt;/span&gt;: all five executed successfully in Camunda.&lt;/Text&gt;&#10;      &lt;/Box&gt;&#10;    &lt;/Box&gt;&#10;  &lt;/Box&gt;&#10;  &lt;Box style={{ marginTop: 12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0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 227"/>
          <p:cNvSpPr/>
          <p:nvPr/>
        </p:nvSpPr>
        <p:spPr>
          <a:xfrm>
            <a:off x="0" y="28575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29" name="任意多边形 228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1 · REQUIREMENT 3</a:t>
            </a: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457200" y="790575"/>
            <a:ext cx="112776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3 · Business Logic in Service Workers</a:t>
            </a:r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2190750" y="2657475"/>
            <a:ext cx="828675" cy="1600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933575" y="4200525"/>
            <a:ext cx="13430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service tasks</a:t>
            </a: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66750" y="4514850"/>
            <a:ext cx="38766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execute the core business logic in the process engine</a:t>
            </a: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5124450" y="1209675"/>
            <a:ext cx="66103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What We Did</a:t>
            </a: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5124450" y="1524000"/>
            <a:ext cx="66103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Pushed business logic down into 5 workflow service tasks, all marked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isExecutable = true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</a:p>
        </p:txBody>
      </p:sp>
      <p:sp>
        <p:nvSpPr>
          <p:cNvPr id="237" name="圆角矩形 236"/>
          <p:cNvSpPr/>
          <p:nvPr/>
        </p:nvSpPr>
        <p:spPr>
          <a:xfrm>
            <a:off x="5124450" y="1914525"/>
            <a:ext cx="1885950" cy="323850"/>
          </a:xfrm>
          <a:prstGeom prst="roundRect">
            <a:avLst>
              <a:gd name="adj" fmla="val 2352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5257800" y="1990725"/>
            <a:ext cx="1619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Create Referral Record</a:t>
            </a:r>
          </a:p>
        </p:txBody>
      </p:sp>
      <p:sp>
        <p:nvSpPr>
          <p:cNvPr id="239" name="圆角矩形 238"/>
          <p:cNvSpPr/>
          <p:nvPr/>
        </p:nvSpPr>
        <p:spPr>
          <a:xfrm>
            <a:off x="7105650" y="1914525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239000" y="1990725"/>
            <a:ext cx="1714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Store Treatment Results</a:t>
            </a:r>
          </a:p>
        </p:txBody>
      </p:sp>
      <p:sp>
        <p:nvSpPr>
          <p:cNvPr id="241" name="圆角矩形 240"/>
          <p:cNvSpPr/>
          <p:nvPr/>
        </p:nvSpPr>
        <p:spPr>
          <a:xfrm>
            <a:off x="9182100" y="1914525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9315450" y="1990725"/>
            <a:ext cx="1714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Record Clinical Decision</a:t>
            </a:r>
          </a:p>
        </p:txBody>
      </p:sp>
      <p:sp>
        <p:nvSpPr>
          <p:cNvPr id="243" name="圆角矩形 242"/>
          <p:cNvSpPr/>
          <p:nvPr/>
        </p:nvSpPr>
        <p:spPr>
          <a:xfrm>
            <a:off x="5124450" y="233362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5257800" y="2409825"/>
            <a:ext cx="178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Store Treatment Request</a:t>
            </a:r>
          </a:p>
        </p:txBody>
      </p:sp>
      <p:sp>
        <p:nvSpPr>
          <p:cNvPr id="245" name="圆角矩形 244"/>
          <p:cNvSpPr/>
          <p:nvPr/>
        </p:nvSpPr>
        <p:spPr>
          <a:xfrm>
            <a:off x="7267575" y="2333625"/>
            <a:ext cx="2228850" cy="323850"/>
          </a:xfrm>
          <a:prstGeom prst="roundRect">
            <a:avLst>
              <a:gd name="adj" fmla="val 2352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7400925" y="2409825"/>
            <a:ext cx="19621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Process Payment / Funding</a:t>
            </a: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5295900" y="2943225"/>
            <a:ext cx="62674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endParaRPr lang="zh-CN" altLang="en-US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任意多边形 248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07 / 18</a:t>
            </a:r>
          </a:p>
        </p:txBody>
      </p:sp>
      <p:pic>
        <p:nvPicPr>
          <p:cNvPr id="6" name="图片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955" y="2828925"/>
            <a:ext cx="2674620" cy="15144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570" y="2743200"/>
            <a:ext cx="2781300" cy="1581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220" y="4638675"/>
            <a:ext cx="2329180" cy="7531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925" y="4458970"/>
            <a:ext cx="1228725" cy="1238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075" y="4573270"/>
            <a:ext cx="1352550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1 · REQUIREMENT 4&lt;/Text&gt;&#10;  &lt;/Box&gt;&#10;  &lt;Text style={{ fontSize: 30, fontWeight: 'bold', color: '#1E4FA8', marginBottom: 16 }}&gt;4 · Merging Gateways&lt;/Text&gt;&#10;  &lt;Box style={{ flex: 1, display: 'flex', flexDirection: 'row', gap: 28 }}&gt;&#10;    &lt;Box style={{ width: '48%', display: 'flex', flexDirection: 'column', gap: 16 }}&gt;&#10;      &lt;Box style={{ padding: '16px 20px', background: '#F0F5FC', borderRadius: 10, border: '1px solid #E5E7EB' }}&gt;&#10;        &lt;Text style={{ fontSize: 16, fontWeight: 'bold', color: '#0E3F8C', marginBottom: 6 }}&gt;The Requirement (verbatim)&lt;/Text&gt;&#10;        &lt;Text style={{ fontSize: 17, color: '#1A2230', fontStyle: 'italic' }}&gt;&quot;Use merging gateways where appropriate to bring process paths together&quot;&lt;/Text&gt;&#10;      &lt;/Box&gt;&#10;      &lt;Box style={{ padding: '16px 20px', background: '#F0F5FC', borderRadius: 10, border: '1px solid #E5E7EB' }}&gt;&#10;        &lt;Text style={{ fontSize: 16, fontWeight: 'bold', color: '#0E3F8C', marginBottom: 6 }}&gt;i* Strategic Link&lt;/Text&gt;&#10;        &lt;Text style={{ fontSize: 16, color: '#4A5568', lineHeight: 1.5 }}&gt;Reflects the AND / OR decomposition in i* at the process layer: &lt;span style={{ fontWeight: 'bold', color: '#1E4FA8' }}&gt;parallel = AND&lt;/span&gt;, branch = OR.&lt;/Text&gt;&#10;      &lt;/Box&gt;&#10;    &lt;/Box&gt;&#10;    &lt;Box style={{ flex: 1, display: 'flex', flexDirection: 'column', gap: 16 }}&gt;&#10;      &lt;Box style={{ padding: '16px 20px', background: '#FFFFFF', borderRadius: 10, border: '1px solid #D6DCE5' }}&gt;&#10;        &lt;Text style={{ fontSize: 16, fontWeight: 'bold', color: '#0E3F8C', marginBottom: 6 }}&gt;What We Did&lt;/Text&gt;&#10;        &lt;Text style={{ fontSize: 16, color: '#4A5568', lineHeight: 1.5 }}&gt;Used parallel / inclusive / exclusive gateways for branching and merging. Example: treatment authorisation and financial preparation start &lt;span style={{ fontWeight: 'bold', color: '#1E4FA8' }}&gt;in parallel&lt;/span&gt; and merge before treatment is delivered.&lt;/Text&gt;&#10;      &lt;/Box&gt;&#10;      &lt;Box style={{ padding: '16px 20px', background: '#FFFFFF', borderRadius: 10, border: '1px solid #D6DCE5' }}&gt;&#10;        &lt;Text style={{ fontSize: 16, fontWeight: 'bold', color: '#0E3F8C', marginBottom: 6 }}&gt;BPMN v3 Evidence&lt;/Text&gt;&#10;        &lt;Text style={{ fontSize: 16, color: '#4A5568', lineHeight: 1.5 }}&gt;&lt;span style={{ fontWeight: 'bold', color: '#1E4FA8' }}&gt;13 gateways&lt;/span&gt; in total: 11 exclusive, 1 inclusive (Which Financial Actions Are Required?), 1 parallel (Start Treatment Authorisation and Financial Preparation).&lt;/Text&gt;&#10;      &lt;/Box&gt;&#10;    &lt;/Box&gt;&#10;  &lt;/Box&gt;&#10;  &lt;Box style={{ marginTop: 12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08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矩形 2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4" name="任意多边形 253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1 · REQUIREMENT 4</a:t>
            </a: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457200" y="790575"/>
            <a:ext cx="112776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4 · Merging Gateways</a:t>
            </a:r>
          </a:p>
        </p:txBody>
      </p:sp>
      <p:sp>
        <p:nvSpPr>
          <p:cNvPr id="257" name="圆角矩形 256"/>
          <p:cNvSpPr/>
          <p:nvPr/>
        </p:nvSpPr>
        <p:spPr>
          <a:xfrm>
            <a:off x="457200" y="1285875"/>
            <a:ext cx="5410200" cy="942975"/>
          </a:xfrm>
          <a:prstGeom prst="roundRect">
            <a:avLst>
              <a:gd name="adj" fmla="val 10101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647700" y="1438275"/>
            <a:ext cx="5029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The Requirement (verbatim)</a:t>
            </a:r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647700" y="1685925"/>
            <a:ext cx="50292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275" i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"Use merging gateways where appropriate to bring process paths together"</a:t>
            </a:r>
          </a:p>
        </p:txBody>
      </p:sp>
      <p:sp>
        <p:nvSpPr>
          <p:cNvPr id="260" name="圆角矩形 259"/>
          <p:cNvSpPr/>
          <p:nvPr/>
        </p:nvSpPr>
        <p:spPr>
          <a:xfrm>
            <a:off x="457200" y="2381250"/>
            <a:ext cx="5410200" cy="1104900"/>
          </a:xfrm>
          <a:prstGeom prst="roundRect">
            <a:avLst>
              <a:gd name="adj" fmla="val 8621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47700" y="2533650"/>
            <a:ext cx="5029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i* Strategic Link</a:t>
            </a: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647700" y="2781300"/>
            <a:ext cx="50292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Reflects the AND / OR decomposition in i* at the process layer: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parallel = AND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, branch = OR.</a:t>
            </a:r>
          </a:p>
        </p:txBody>
      </p:sp>
      <p:sp>
        <p:nvSpPr>
          <p:cNvPr id="263" name="圆角矩形 262"/>
          <p:cNvSpPr/>
          <p:nvPr/>
        </p:nvSpPr>
        <p:spPr>
          <a:xfrm>
            <a:off x="6134100" y="1285875"/>
            <a:ext cx="5600700" cy="13811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324600" y="1438275"/>
            <a:ext cx="5219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What We Did</a:t>
            </a: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6324600" y="1685925"/>
            <a:ext cx="52197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Used parallel / inclusive / exclusive gateways for branching and merging. Example: treatment authorisation and financial preparation start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in parallel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and merge before treatment is delivered.</a:t>
            </a:r>
          </a:p>
        </p:txBody>
      </p:sp>
      <p:sp>
        <p:nvSpPr>
          <p:cNvPr id="266" name="圆角矩形 265"/>
          <p:cNvSpPr/>
          <p:nvPr/>
        </p:nvSpPr>
        <p:spPr>
          <a:xfrm>
            <a:off x="6134100" y="2819400"/>
            <a:ext cx="5600700" cy="13811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324600" y="2971800"/>
            <a:ext cx="5219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BPMN v3 Evidence</a:t>
            </a: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324600" y="3219450"/>
            <a:ext cx="52197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13 gateways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in total: 11 exclusive, 1 inclusive (Which Financial Actions Are Required?), 1 parallel (Start Treatment Authorisation and Financial Preparation).</a:t>
            </a:r>
          </a:p>
        </p:txBody>
      </p:sp>
      <p:sp>
        <p:nvSpPr>
          <p:cNvPr id="269" name="任意多边形 268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08 / 18</a:t>
            </a:r>
          </a:p>
        </p:txBody>
      </p:sp>
      <p:pic>
        <p:nvPicPr>
          <p:cNvPr id="4" name="图片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" y="4238625"/>
            <a:ext cx="4351020" cy="19710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295" y="4352925"/>
            <a:ext cx="3527425" cy="1857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815" y="4352925"/>
            <a:ext cx="3584575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1 · REQUIREMENT 5&lt;/Text&gt;&#10;  &lt;/Box&gt;&#10;  &lt;Box style={{ display: 'flex', flexDirection: 'row', gap: 28, flex: 1 }}&gt;&#10;    &lt;Box style={{ width: '32%', background: '#0E3F8C', borderRadius: 12, padding: '22px 24px', display: 'flex', flexDirection: 'column', justifyContent: 'center' }}&gt;&#10;      &lt;Text style={{ fontSize: 56, fontWeight: 'bold', color: '#FFFFFF' }}&gt;R5&lt;/Text&gt;&#10;      &lt;Text style={{ fontSize: 19, fontWeight: 'bold', color: '#FFFFFF', marginTop: 8, lineHeight: 1.3 }}&gt;Data Persistence&lt;/Text&gt;&#10;      &lt;Text style={{ fontSize: 14, color: '#9DB6DD', marginTop: 10, lineHeight: 1.5 }}&gt;Store and retrieve application data across the referral pathway.&lt;/Text&gt;&#10;    &lt;/Box&gt;&#10;    &lt;Box style={{ flex: 1, display: 'flex', flexDirection: 'column', gap: 14 }}&gt;&#10;      &lt;Box style={{ padding: '15px 18px', background: '#FFFFFF', borderRadius: 10, border: '1px solid #D6DCE5' }}&gt;&#10;        &lt;Text style={{ fontSize: 16, fontWeight: 'bold', color: '#0E3F8C', marginBottom: 6 }}&gt;What We Did&lt;/Text&gt;&#10;        &lt;Text style={{ fontSize: 16, color: '#4A5568', lineHeight: 1.5 }}&gt;Introduced a data store and persistence logic covering referral records, treatment results, financial settlements and clinic letters, supporting both writes and later reads.&lt;/Text&gt;&#10;      &lt;/Box&gt;&#10;      &lt;Box style={{ padding: '15px 18px', background: '#FFFFFF', borderRadius: 10, border: '1px solid #D6DCE5' }}&gt;&#10;        &lt;Text style={{ fontSize: 16, fontWeight: 'bold', color: '#0E3F8C', marginBottom: 6 }}&gt;BPMN v3 Evidence&lt;/Text&gt;&#10;        &lt;Text style={{ fontSize: 16, color: '#4A5568', lineHeight: 1.5 }}&gt;Data store &lt;span style={{ fontWeight: 'bold', color: '#1E4FA8' }}&gt;Patient Pathway Data Store&lt;/span&gt; + 4 data objects (Treatment Results, Clinic Letter, Referral &amp;amp; Clinical Information, Financial Clearance); writes via service tasks Store Treatment Results / Create Referral Record.&lt;/Text&gt;&#10;      &lt;/Box&gt;&#10;      &lt;Box style={{ padding: '15px 18px', background: '#E8EFF8', borderRadius: 10, border: '1px solid #BFD3EF' }}&gt;&#10;        &lt;Text style={{ fontSize: 16, color: '#1A2230', lineHeight: 1.5 }}&gt;Status: &lt;span style={{ fontWeight: 'bold', color: '#0E3F8C' }}&gt;Design level&lt;/span&gt; — runtime persistence is guaranteed by the Camunda engine; runtime screenshots still to be provided.&lt;/Text&gt;&#10;      &lt;/Box&gt;&#10;    &lt;/Box&gt;&#10;  &lt;/Box&gt;&#10;  &lt;Box style={{ marginTop: 12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09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矩形 2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4" name="任意多边形 273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1 · REQUIREMENT 5</a:t>
            </a:r>
          </a:p>
        </p:txBody>
      </p:sp>
      <p:sp>
        <p:nvSpPr>
          <p:cNvPr id="276" name="圆角矩形 275"/>
          <p:cNvSpPr/>
          <p:nvPr/>
        </p:nvSpPr>
        <p:spPr>
          <a:xfrm>
            <a:off x="457200" y="790575"/>
            <a:ext cx="3609975" cy="5353050"/>
          </a:xfrm>
          <a:prstGeom prst="roundRect">
            <a:avLst>
              <a:gd name="adj" fmla="val 3166"/>
            </a:avLst>
          </a:prstGeom>
          <a:solidFill>
            <a:srgbClr val="0E3F8C"/>
          </a:solidFill>
        </p:spPr>
        <p:txBody>
          <a:bodyPr/>
          <a:lstStyle/>
          <a:p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85800" y="2676525"/>
            <a:ext cx="3152775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R5</a:t>
            </a: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685800" y="3400425"/>
            <a:ext cx="31527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42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Data Persistence</a:t>
            </a: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685800" y="3781425"/>
            <a:ext cx="315277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9DB6DD"/>
                </a:solidFill>
                <a:latin typeface="微软雅黑" panose="020B0503020204020204" charset="-122"/>
                <a:ea typeface="微软雅黑" panose="020B0503020204020204" charset="-122"/>
              </a:rPr>
              <a:t>Store and retrieve application data across the referral pathway.</a:t>
            </a:r>
          </a:p>
        </p:txBody>
      </p:sp>
      <p:sp>
        <p:nvSpPr>
          <p:cNvPr id="280" name="圆角矩形 279"/>
          <p:cNvSpPr/>
          <p:nvPr/>
        </p:nvSpPr>
        <p:spPr>
          <a:xfrm>
            <a:off x="4333875" y="790575"/>
            <a:ext cx="7400925" cy="1085850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4505325" y="933450"/>
            <a:ext cx="70580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What We Did</a:t>
            </a: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4505325" y="1181100"/>
            <a:ext cx="70580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Introduced a data store and persistence logic covering referral records, treatment results, financial settlements and clinic letters, supporting both writes and later reads.</a:t>
            </a:r>
          </a:p>
        </p:txBody>
      </p:sp>
      <p:sp>
        <p:nvSpPr>
          <p:cNvPr id="283" name="圆角矩形 282"/>
          <p:cNvSpPr/>
          <p:nvPr/>
        </p:nvSpPr>
        <p:spPr>
          <a:xfrm>
            <a:off x="4333875" y="2009775"/>
            <a:ext cx="7400925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4505325" y="2152650"/>
            <a:ext cx="70580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BPMN v4 Evidence</a:t>
            </a: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4505325" y="2400300"/>
            <a:ext cx="705802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Data store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Patient Pathway Data Store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+ 4 data objects (Treatment Results, Clinic Letter, Referral &amp; Clinical Information, Financial Clearance); writes via service tasks Store Treatment Results / Create Referral Record.</a:t>
            </a:r>
          </a:p>
        </p:txBody>
      </p:sp>
      <p:sp>
        <p:nvSpPr>
          <p:cNvPr id="286" name="圆角矩形 285"/>
          <p:cNvSpPr/>
          <p:nvPr/>
        </p:nvSpPr>
        <p:spPr>
          <a:xfrm>
            <a:off x="4333875" y="3505200"/>
            <a:ext cx="7400925" cy="838200"/>
          </a:xfrm>
          <a:prstGeom prst="roundRect">
            <a:avLst>
              <a:gd name="adj" fmla="val 11364"/>
            </a:avLst>
          </a:prstGeom>
          <a:solidFill>
            <a:srgbClr val="E8EFF8"/>
          </a:solidFill>
          <a:ln w="12700">
            <a:solidFill>
              <a:srgbClr val="BFD3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4505325" y="3648075"/>
            <a:ext cx="70580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Status: </a:t>
            </a: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Design level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— runtime persistence is guaranteed by the Camunda engine; runtime screenshots still to be provided.</a:t>
            </a:r>
          </a:p>
        </p:txBody>
      </p:sp>
      <p:sp>
        <p:nvSpPr>
          <p:cNvPr id="288" name="任意多边形 287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09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0E3F8C', display: 'flex', flexDirection: 'column', justifyContent: 'center' }}&gt;&#10;  &lt;Text style={{ fontSize: 140, fontWeight: 'bold', color: '#FFFFFF', opacity: 0.18, marginBottom: -10 }}&gt;02&lt;/Text&gt;&#10;  &lt;Text style={{ fontSize: 40, fontWeight: 'bold', color: '#FFFFFF', marginBottom: 18 }}&gt;Part 2 — Strategic Dependency (SD) Diagram&lt;/Text&gt;&#10;  &lt;Box style={{ width: 110, height: 4, background: '#3D7BD9', borderRadius: 2, marginBottom: 22 }} /&gt;&#10;  &lt;Box style={{ display: 'flex', flexDirection: 'column', gap: 12 }}&gt;&#10;    &lt;Text style={{ fontSize: 19, color: '#D6E2F5' }}&gt;• The SD model answers &lt;span style={{ color: '#FFFFFF', fontWeight: 'bold' }}&gt;who depends on whom&lt;/span&gt; for goals and resources.&lt;/Text&gt;&#10;    &lt;Text style={{ fontSize: 19, color: '#D6E2F5' }}&gt;• Our model has 4 actors and 9 strategic dependencies.&lt;/Text&gt;&#10;    &lt;Text style={{ fontSize: 19, color: '#D6E2F5' }}&gt;• It is the strategic &quot;why&quot; layer that the operational BPMN later realises.&lt;/Text&gt;&#10;  &lt;/Box&gt;&#10;  &lt;Box style={{ position: 'absolute', bottom: 28, right: 48 }}&gt;&#10;    &lt;Text style={{ fontSize: 14, color: '#9DB6DD' }}&gt;10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457200" y="3305175"/>
            <a:ext cx="112776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Part 2 — Strategic Dependency (SD) Diagram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457200" y="3933825"/>
            <a:ext cx="104775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457200" y="4181475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The SD model answers 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who depends on whom</a:t>
            </a: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 for goals and resources.</a:t>
            </a: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457200" y="4514850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Our model has 4 actors and 9 strategic dependencies.</a:t>
            </a: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57200" y="4848225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It is the strategic "why" layer that the operational BPMN later realises.</a:t>
            </a: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457200" y="1800225"/>
            <a:ext cx="11277600" cy="1600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1277600" y="64293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9DB6DD"/>
                </a:solidFill>
                <a:latin typeface="微软雅黑" panose="020B0503020204020204" charset="-122"/>
                <a:ea typeface="微软雅黑" panose="020B0503020204020204" charset="-122"/>
              </a:rPr>
              <a:t>10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2 · SD DIAGRAM&lt;/Text&gt;&#10;  &lt;/Box&gt;&#10;  &lt;Text style={{ fontSize: 30, fontWeight: 'bold', color: '#1E4FA8', marginBottom: 16 }}&gt;Strategic Dependency Model — Explained&lt;/Text&gt;&#10;  &lt;Box style={{ flex: 1, display: 'flex', flexDirection: 'row', gap: 26, alignItems: 'stretch' }}&gt;&#10;    &lt;Box style={{ width: '46%', height: '100%', display: 'flex', alignItems: 'center', justifyContent: 'center', background: '#F7F9FC', borderRadius: 10, border: '1px solid #E5E7EB', padding: 12 }}&gt;&#10;      &lt;Image src=&quot;assets/sd_p1.png&quot; style={{ width: '100%', height: '100%', objectFit: 'contain' }} /&gt;&#10;    &lt;/Box&gt;&#10;    &lt;Box style={{ flex: 1, display: 'flex', flexDirection: 'column', gap: 14 }}&gt;&#10;      &lt;Box style={{ padding: '14px 18px', background: '#F0F5FC', borderRadius: 10, border: '1px solid #E5E7EB' }}&gt;&#10;        &lt;Text style={{ fontSize: 16, fontWeight: 'bold', color: '#0E3F8C', marginBottom: 4 }}&gt;What is the SD diagram?&lt;/Text&gt;&#10;        &lt;Text style={{ fontSize: 16, color: '#4A5568', lineHeight: 1.5 }}&gt;It shows the relationships between actors: each dependency means actor A depends on actor B to achieve a &lt;span style={{ fontWeight: 'bold', color: '#1E4FA8' }}&gt;goal&lt;/span&gt; or provide a &lt;span style={{ fontWeight: 'bold', color: '#1E4FA8' }}&gt;resource&lt;/span&gt;.&lt;/Text&gt;&#10;      &lt;/Box&gt;&#10;      &lt;Box style={{ padding: '14px 18px', background: '#FFFFFF', borderRadius: 10, border: '1px solid #D6DCE5' }}&gt;&#10;        &lt;Text style={{ fontSize: 16, fontWeight: 'bold', color: '#0E3F8C', marginBottom: 4 }}&gt;Our 4 actors&lt;/Text&gt;&#10;        &lt;Text style={{ fontSize: 16, color: '#4A5568', lineHeight: 1.5 }}&gt;Referring Organisation · Hospital · Patient · External Payment &amp;amp; Funding Providers.&lt;/Text&gt;&#10;      &lt;/Box&gt;&#10;      &lt;Box style={{ padding: '14px 18px', background: '#FFFFFF', borderRadius: 10, border: '1px solid #D6DCE5' }}&gt;&#10;        &lt;Text style={{ fontSize: 16, fontWeight: 'bold', color: '#0E3F8C', marginBottom: 4 }}&gt;Key dependencies (9 in total)&lt;/Text&gt;&#10;        &lt;Text style={{ fontSize: 16, color: '#4A5568', lineHeight: 1.5 }}&gt;Hospital depends on Patient for &lt;span style={{ fontWeight: 'bold', color: '#1E4FA8' }}&gt;Informed Consent&lt;/span&gt;; Patient depends on Hospital for &lt;span style={{ fontWeight: 'bold', color: '#1E4FA8' }}&gt;Diagnosis &amp;amp; Treatment&lt;/span&gt;; Hospital &amp;amp; Patient both depend on External for &lt;span style={{ fontWeight: 'bold', color: '#1E4FA8' }}&gt;Payment / Funding&lt;/span&gt;.&lt;/Text&gt;&#10;      &lt;/Box&gt;&#10;    &lt;/Box&gt;&#10;  &lt;/Box&gt;&#10;  &lt;Box style={{ marginTop: 12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11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2" name="任意多边形 21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2 · SD DIAGRAM</a:t>
            </a: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457200" y="790575"/>
            <a:ext cx="112776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Strategic Dependency Model — Explained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457200" y="1285875"/>
            <a:ext cx="5191125" cy="4857750"/>
          </a:xfrm>
          <a:prstGeom prst="roundRect">
            <a:avLst>
              <a:gd name="adj" fmla="val 19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t="17026" b="17026"/>
          <a:stretch>
            <a:fillRect/>
          </a:stretch>
        </p:blipFill>
        <p:spPr>
          <a:xfrm>
            <a:off x="571500" y="1400175"/>
            <a:ext cx="4962525" cy="4629150"/>
          </a:xfrm>
          <a:prstGeom prst="rect">
            <a:avLst/>
          </a:prstGeom>
        </p:spPr>
      </p:pic>
      <p:sp>
        <p:nvSpPr>
          <p:cNvPr id="27" name="圆角矩形 26"/>
          <p:cNvSpPr/>
          <p:nvPr/>
        </p:nvSpPr>
        <p:spPr>
          <a:xfrm>
            <a:off x="5895975" y="1285875"/>
            <a:ext cx="5838825" cy="104775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6067425" y="1419225"/>
            <a:ext cx="54959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What is the SD diagram?</a:t>
            </a: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6067425" y="1647825"/>
            <a:ext cx="54959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It shows the relationships between actors: each dependency means actor A depends on actor B to achieve a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goal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or provide a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resource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5895975" y="2466975"/>
            <a:ext cx="58388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6067425" y="2600325"/>
            <a:ext cx="54959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Our 4 actors</a:t>
            </a: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6067425" y="2828925"/>
            <a:ext cx="54959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Referring Organisation · Hospital · Patient · External Payment &amp; Funding Providers.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5895975" y="3648075"/>
            <a:ext cx="5838825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6067425" y="3781425"/>
            <a:ext cx="54959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Key dependencies (9 in total)</a:t>
            </a: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6067425" y="4010025"/>
            <a:ext cx="549592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Hospital depends on Patient for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Informed Consent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; Patient depends on Hospital for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Diagnosis &amp; Treatment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; Hospital &amp; Patient both depend on External for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Payment / Funding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</a:p>
        </p:txBody>
      </p:sp>
      <p:sp>
        <p:nvSpPr>
          <p:cNvPr id="36" name="任意多边形 35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11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2 · SD DETAIL&lt;/Text&gt;&#10;  &lt;/Box&gt;&#10;  &lt;Text style={{ fontSize: 30, fontWeight: 'bold', color: '#1E4FA8', marginBottom: 14 }}&gt;The 9 Strategic Dependencies&lt;/Text&gt;&#10;  &lt;Box style={{ flex: 1 }}&gt;&#10;    &lt;Table&#10;      style={{ width: '100%', height: '100%' }}&#10;      defaultTextStyle={{ fontSize: 15, textAlign: 'left', color: '#1A2230' }}&#10;      defaultCellStyle={{ border: { left: { width: 1, color: '#E5E7EB' }, right: { width: 1, color: '#E5E7EB' }, top: { width: 1, color: '#E5E7EB' }, bottom: { width: 1, color: '#E5E7EB' } } }}&#10;      cells={[&#10;        [&#10;          { text: 'Dependency', textStyle: { bold: true, color: '#FFFFFF', fontSize: 16 }, cellStyle: { background: { color: '#1E4FA8' } } },&#10;          { text: 'From → To', textStyle: { bold: true, color: '#FFFFFF', fontSize: 16 }, cellStyle: { background: { color: '#1E4FA8' } } },&#10;          { text: 'Type', textStyle: { bold: true, color: '#FFFFFF', fontSize: 16 }, cellStyle: { background: { color: '#1E4FA8' } } },&#10;        ],&#10;        ['Referral Handled &amp; Managed', 'Referring Organisation → Hospital', 'Goal'],&#10;        ['Complete Referral Information', 'Referring Organisation → Hospital', 'Resource'],&#10;        ['Receive Diagnosis &amp; Treatment', 'Patient → Hospital', 'Goal'],&#10;        ['Informed Consent Obtained', 'Hospital → Patient', 'Goal'],&#10;        ['Payment / Funding Information', 'Patient → Hospital', 'Resource'],&#10;        ['Funding Approval', 'Hospital → External Payment &amp; Funding', 'Resource'],&#10;        ['Payment Settlement', 'Hospital → External Payment &amp; Funding', 'Resource'],&#10;        ['Payment Processed', 'Patient → External Payment &amp; Funding', 'Resource'],&#10;        ['Treatment Outcome &amp; Clinic Letter', 'Referring Organisation → Hospital', 'Resource'],&#10;      ]}&#10;    /&gt;&#10;  &lt;/Box&gt;&#10;  &lt;Box style={{ marginTop: 10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1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1" name="任意多边形 40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2 · SD DETAIL</a:t>
            </a: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457200" y="790575"/>
            <a:ext cx="112776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The 9 Strategic Dependencies</a:t>
            </a:r>
          </a:p>
        </p:txBody>
      </p:sp>
      <p:graphicFrame>
        <p:nvGraphicFramePr>
          <p:cNvPr id="44" name="表格 43"/>
          <p:cNvGraphicFramePr/>
          <p:nvPr/>
        </p:nvGraphicFramePr>
        <p:xfrm>
          <a:off x="457200" y="1266825"/>
          <a:ext cx="11277600" cy="4895851"/>
        </p:xfrm>
        <a:graphic>
          <a:graphicData uri="http://schemas.openxmlformats.org/drawingml/2006/table">
            <a:tbl>
              <a:tblPr/>
              <a:tblGrid>
                <a:gridCol w="4637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5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29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Dependency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From → To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Referral Handled &amp; Managed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Referring Organisation → Hospital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Goal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Complete Referral Information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Referring Organisation → Hospital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Resource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5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Receive Diagnosis &amp; Treatment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Patient → Hospital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Goal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5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Informed Consent Obtained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Hospital → Patient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Goal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5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Payment / Funding Information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Patient → Hospital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Resource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5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Funding Approval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Hospital → External Payment &amp; Funding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Resource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5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Payment Settlement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Hospital → External Payment &amp; Funding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Resource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65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Payment Processed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Patient → External Payment &amp; Funding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Resource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65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Treatment Outcome &amp; Clinic Letter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Referring Organisation → Hospital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Resource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5" name="任意多边形 44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12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0E3F8C', display: 'flex', flexDirection: 'column', justifyContent: 'center' }}&gt;&#10;  &lt;Text style={{ fontSize: 140, fontWeight: 'bold', color: '#FFFFFF', opacity: 0.18, marginBottom: -10 }}&gt;03&lt;/Text&gt;&#10;  &lt;Text style={{ fontSize: 40, fontWeight: 'bold', color: '#FFFFFF', marginBottom: 18 }}&gt;Part 3 — Strategic Rationale (SR) Diagram&lt;/Text&gt;&#10;  &lt;Box style={{ width: 110, height: 4, background: '#3D7BD9', borderRadius: 2, marginBottom: 22 }} /&gt;&#10;  &lt;Box style={{ display: 'flex', flexDirection: 'column', gap: 12 }}&gt;&#10;    &lt;Text style={{ fontSize: 19, color: '#D6E2F5' }}&gt;• The SR model explains &lt;span style={{ color: '#FFFFFF', fontWeight: 'bold' }}&gt;why&lt;/span&gt; each actor wants what it wants: goals, tasks, resources, softgoals.&lt;/Text&gt;&#10;    &lt;Text style={{ fontSize: 19, color: '#D6E2F5' }}&gt;• Our model has 4 actors holding &lt;span style={{ color: '#FFFFFF', fontWeight: 'bold' }}&gt;57 internal elements&lt;/span&gt; (RO 6, Patient 11, Hospital 31, External 9).&lt;/Text&gt;&#10;    &lt;Text style={{ fontSize: 19, color: '#D6E2F5' }}&gt;• It is the design rationale behind every BPMN task and service task.&lt;/Text&gt;&#10;  &lt;/Box&gt;&#10;  &lt;Box style={{ position: 'absolute', bottom: 28, right: 48 }}&gt;&#10;    &lt;Text style={{ fontSize: 14, color: '#9DB6DD' }}&gt;13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457200" y="3305175"/>
            <a:ext cx="112776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Part 3 — Strategic Rationale (SR) Diagram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457200" y="3933825"/>
            <a:ext cx="104775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457200" y="4181475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The SR model explains 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why</a:t>
            </a: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 each actor wants what it wants: goals, tasks, resources, softgoals.</a:t>
            </a: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457200" y="4514850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Our model has 4 actors holding 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57 internal elements</a:t>
            </a: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 (RO 6, Patient 11, Hospital 31, External 9).</a:t>
            </a: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457200" y="4848225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It is the design rationale behind every BPMN task and service task.</a:t>
            </a:r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457200" y="1800225"/>
            <a:ext cx="11277600" cy="1600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11277600" y="64293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9DB6DD"/>
                </a:solidFill>
                <a:latin typeface="微软雅黑" panose="020B0503020204020204" charset="-122"/>
                <a:ea typeface="微软雅黑" panose="020B0503020204020204" charset="-122"/>
              </a:rPr>
              <a:t>13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3 · SR DIAGRAM&lt;/Text&gt;&#10;  &lt;/Box&gt;&#10;  &lt;Text style={{ fontSize: 30, fontWeight: 'bold', color: '#1E4FA8', marginBottom: 16 }}&gt;Strategic Rationale Model — Explained&lt;/Text&gt;&#10;  &lt;Box style={{ flex: 1, display: 'flex', flexDirection: 'row', gap: 26, alignItems: 'stretch' }}&gt;&#10;    &lt;Box style={{ width: '46%', height: '100%', display: 'flex', alignItems: 'center', justifyContent: 'center', background: '#F7F9FC', borderRadius: 10, border: '1px solid #E5E7EB', padding: 12 }}&gt;&#10;      &lt;Image src=&quot;assets/sr_p1.png&quot; style={{ width: '100%', height: '100%', objectFit: 'contain' }} /&gt;&#10;    &lt;/Box&gt;&#10;    &lt;Box style={{ flex: 1, display: 'flex', flexDirection: 'column', gap: 14, justifyContent: 'center' }}&gt;&#10;      &lt;Box style={{ padding: '14px 18px', background: '#F0F5FC', borderRadius: 10, border: '1px solid #E5E7EB' }}&gt;&#10;        &lt;Text style={{ fontSize: 16, fontWeight: 'bold', color: '#0E3F8C', marginBottom: 4 }}&gt;What is the SR diagram?&lt;/Text&gt;&#10;        &lt;Text style={{ fontSize: 16, color: '#4A5568', lineHeight: 1.5 }}&gt;Inside each actor it shows &lt;span style={{ fontWeight: 'bold', color: '#1E4FA8' }}&gt;goals&lt;/span&gt; (rounded), &lt;span style={{ fontWeight: 'bold', color: '#1E4FA8' }}&gt;tasks&lt;/span&gt; (hexagons), &lt;span style={{ fontWeight: 'bold', color: '#1E4FA8' }}&gt;resources&lt;/span&gt; (rectangles) and &lt;span style={{ fontWeight: 'bold', color: '#1E4FA8' }}&gt;softgoals&lt;/span&gt; (clouds), with AND/OR decomposition links.&lt;/Text&gt;&#10;      &lt;/Box&gt;&#10;      &lt;Box style={{ padding: '14px 18px', background: '#FFFFFF', borderRadius: 10, border: '1px solid #D6DCE5' }}&gt;&#10;        &lt;Text style={{ fontSize: 16, fontWeight: 'bold', color: '#0E3F8C', marginBottom: 4 }}&gt;Examples per actor&lt;/Text&gt;&#10;        &lt;Text style={{ fontSize: 16, color: '#4A5568', lineHeight: 1.5 }}&gt;Hospital: &lt;span style={{ fontWeight: 'bold', color: '#1E4FA8' }}&gt;Assess &amp;amp; admit referral&lt;/span&gt;, Diagnose patient, Obtain informed consent. Patient: Get diagnosed &amp;amp; treated, Give informed consent, Arrange &amp;amp; make payment.&lt;/Text&gt;&#10;      &lt;/Box&gt;&#10;      &lt;Box style={{ padding: '14px 18px', background: '#FFFFFF', borderRadius: 10, border: '1px solid #D6DCE5' }}&gt;&#10;        &lt;Text style={{ fontSize: 16, fontWeight: 'bold', color: '#0E3F8C', marginBottom: 4 }}&gt;Why it matters&lt;/Text&gt;&#10;        &lt;Text style={{ fontSize: 16, color: '#4A5568', lineHeight: 1.5 }}&gt;The SR rationale is what the BPMN later turns into lanes, tasks and the 5 service tasks.&lt;/Text&gt;&#10;      &lt;/Box&gt;&#10;    &lt;/Box&gt;&#10;  &lt;/Box&gt;&#10;  &lt;Box style={{ marginTop: 12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1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9" name="任意多边形 58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3 · SR DIAGRAM</a:t>
            </a: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457200" y="790575"/>
            <a:ext cx="112776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Strategic Rationale Model — Explained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457200" y="1285875"/>
            <a:ext cx="5191125" cy="4857750"/>
          </a:xfrm>
          <a:prstGeom prst="roundRect">
            <a:avLst>
              <a:gd name="adj" fmla="val 19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rcRect t="17026" b="17026"/>
          <a:stretch>
            <a:fillRect/>
          </a:stretch>
        </p:blipFill>
        <p:spPr>
          <a:xfrm>
            <a:off x="571500" y="1400175"/>
            <a:ext cx="4962525" cy="4629150"/>
          </a:xfrm>
          <a:prstGeom prst="rect">
            <a:avLst/>
          </a:prstGeom>
        </p:spPr>
      </p:pic>
      <p:sp>
        <p:nvSpPr>
          <p:cNvPr id="64" name="圆角矩形 63"/>
          <p:cNvSpPr/>
          <p:nvPr/>
        </p:nvSpPr>
        <p:spPr>
          <a:xfrm>
            <a:off x="5895975" y="1876425"/>
            <a:ext cx="5838825" cy="104775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6067425" y="2009775"/>
            <a:ext cx="54959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What is the SR diagram?</a:t>
            </a: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6067425" y="2238375"/>
            <a:ext cx="54959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Inside each actor it shows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goals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(rounded),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tasks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(hexagons),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resources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(rectangles) and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softgoals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(clouds), with AND/OR decomposition links.</a:t>
            </a:r>
          </a:p>
        </p:txBody>
      </p:sp>
      <p:sp>
        <p:nvSpPr>
          <p:cNvPr id="67" name="圆角矩形 66"/>
          <p:cNvSpPr/>
          <p:nvPr/>
        </p:nvSpPr>
        <p:spPr>
          <a:xfrm>
            <a:off x="5895975" y="3057525"/>
            <a:ext cx="5838825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6067425" y="3190875"/>
            <a:ext cx="54959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Examples per actor</a:t>
            </a: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067425" y="3419475"/>
            <a:ext cx="549592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Hospital: </a:t>
            </a: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Assess &amp; admit referral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, Diagnose patient, Obtain informed consent. Patient: Get diagnosed &amp; treated, Give informed consent, Arrange &amp; make payment.</a:t>
            </a:r>
          </a:p>
        </p:txBody>
      </p:sp>
      <p:sp>
        <p:nvSpPr>
          <p:cNvPr id="70" name="圆角矩形 69"/>
          <p:cNvSpPr/>
          <p:nvPr/>
        </p:nvSpPr>
        <p:spPr>
          <a:xfrm>
            <a:off x="5895975" y="4514850"/>
            <a:ext cx="58388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6067425" y="4648200"/>
            <a:ext cx="54959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Why it matters</a:t>
            </a: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6067425" y="4876800"/>
            <a:ext cx="54959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The SR rationale is what the BPMN later turns into lanes, tasks and the 5 service tasks.</a:t>
            </a:r>
          </a:p>
        </p:txBody>
      </p:sp>
      <p:sp>
        <p:nvSpPr>
          <p:cNvPr id="73" name="任意多边形 72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14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3 · SR DETAIL&lt;/Text&gt;&#10;  &lt;/Box&gt;&#10;  &lt;Text style={{ fontSize: 30, fontWeight: 'bold', color: '#1E4FA8', marginBottom: 14 }}&gt;Each Actor's Internal Rationale&lt;/Text&gt;&#10;  &lt;Box style={{ flex: 1 }}&gt;&#10;    &lt;Table&#10;      style={{ width: '100%', height: '100%' }}&#10;      defaultTextStyle={{ fontSize: 14, textAlign: 'left', color: '#1A2230', lineHeight: 1.4 }}&#10;      defaultCellStyle={{ border: { left: { width: 1, color: '#E5E7EB' }, right: { width: 1, color: '#E5E7EB' }, top: { width: 1, color: '#E5E7EB' }, bottom: { width: 1, color: '#E5E7EB' } } }}&#10;      cells={[&#10;        [&#10;          { text: 'Actor', textStyle: { bold: true, color: '#FFFFFF', fontSize: 15 }, cellStyle: { background: { color: '#1E4FA8' } } },&#10;          { text: 'Goals', textStyle: { bold: true, color: '#FFFFFF', fontSize: 15 }, cellStyle: { background: { color: '#1E4FA8' } } },&#10;          { text: 'Key Tasks &amp; Resources', textStyle: { bold: true, color: '#FFFFFF', fontSize: 15 }, cellStyle: { background: { color: '#1E4FA8' } } },&#10;        ],&#10;        [{ text: 'Referring Organisation', textStyle: { bold: true, color: '#0E3F8C' } }, 'Refer patient for specialist care', 'Compile clinical history &amp; findings; Submit referral request; Monitor referral progress (softgoals: Accurate &amp; complete info, Continuity of care)'],&#10;        [{ text: 'Patient', textStyle: { bold: true, color: '#0E3F8C' } }, 'Get diagnosed &amp; treated; Give informed consent', 'Attend appointment; Provide medical history; Follow treatment plan; Review &amp; sign consent; Arrange &amp; make payment (Resource: Payment Processed; softgoals: Affordable care, Convenient access)'],&#10;        [{ text: 'Hospital', textStyle: { bold: true, color: '#0E3F8C' } }, 'Deliver safe effective care; Assess &amp; admit referral; Diagnose patient; Obtain informed consent', 'Triage; Verify completeness; Register patient; Schedule appointment; Clinical consultation; Order &amp; review tests; Collect signed consent (Resource: Complete Referral Information)'],&#10;        [{ text: 'External Payment &amp; Funding', textStyle: { bold: true, color: '#0E3F8C' } }, 'Fulfil funding &amp; payment obligations', 'Process payment or funding requests (Resources: Payment Processed, Funding Approval, Payment Settlement)'],&#10;      ]}&#10;    /&gt;&#10;  &lt;/Box&gt;&#10;  &lt;Box style={{ marginTop: 10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1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8" name="任意多边形 77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3 · SR DETAIL</a:t>
            </a: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457200" y="790575"/>
            <a:ext cx="112776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Each Actor's Internal Rationale</a:t>
            </a:r>
          </a:p>
        </p:txBody>
      </p:sp>
      <p:graphicFrame>
        <p:nvGraphicFramePr>
          <p:cNvPr id="81" name="表格 80"/>
          <p:cNvGraphicFramePr/>
          <p:nvPr/>
        </p:nvGraphicFramePr>
        <p:xfrm>
          <a:off x="457200" y="1266825"/>
          <a:ext cx="11277600" cy="4895850"/>
        </p:xfrm>
        <a:graphic>
          <a:graphicData uri="http://schemas.openxmlformats.org/drawingml/2006/table">
            <a:tbl>
              <a:tblPr/>
              <a:tblGrid>
                <a:gridCol w="1099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5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09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Actor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Goals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 Tasks &amp; Resources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31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Referring Organisation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Refer patient for specialist care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Compile clinical history &amp; findings; Submit referral request; Monitor referral progress (softgoals: Accurate &amp; complete info, Continuity of care)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1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Patient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Get diagnosed &amp; treated; Give informed consent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Attend appointment; Provide medical history; Follow treatment plan; Review &amp; sign consent; Arrange &amp; make payment (Resource: Payment Processed; softgoals: Affordable care, Convenient access)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31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Hospital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Deliver safe effective care; Assess &amp; admit referral; Diagnose patient; Obtain informed consent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Triage; Verify completeness; Register patient; Schedule appointment; Clinical consultation; Order &amp; review tests; Collect signed consent (Resource: Complete Referral Information)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081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E3F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External Payment &amp; Funding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Fulfil funding &amp; payment obligations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Process payment or funding requests (Resources: Payment Processed, Funding Approval, Payment Settlement)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" name="任意多边形 81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15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0E3F8C', display: 'flex', flexDirection: 'column', justifyContent: 'center' }}&gt;&#10;  &lt;Text style={{ fontSize: 140, fontWeight: 'bold', color: '#FFFFFF', opacity: 0.18, marginBottom: -10 }}&gt;04&lt;/Text&gt;&#10;  &lt;Text style={{ fontSize: 40, fontWeight: 'bold', color: '#FFFFFF', marginBottom: 18 }}&gt;Part 4 — How SD, SR &amp;amp; BPMN Connect&lt;/Text&gt;&#10;  &lt;Box style={{ width: 110, height: 4, background: '#3D7BD9', borderRadius: 2, marginBottom: 22 }} /&gt;&#10;  &lt;Box style={{ display: 'flex', flexDirection: 'column', gap: 12 }}&gt;&#10;    &lt;Text style={{ fontSize: 19, color: '#D6E2F5' }}&gt;• The three models are one layered story: &lt;span style={{ color: '#FFFFFF', fontWeight: 'bold' }}&gt;strategy → rationale → operations&lt;/span&gt;.&lt;/Text&gt;&#10;    &lt;Text style={{ fontSize: 19, color: '#D6E2F5' }}&gt;• SD sets the actors and dependencies; SR explains each actor's goals; BPMN executes them.&lt;/Text&gt;&#10;    &lt;Text style={{ fontSize: 19, color: '#D6E2F5' }}&gt;• Next: the explicit mapping between the two i* models and the BPMN总图.&lt;/Text&gt;&#10;  &lt;/Box&gt;&#10;  &lt;Box style={{ position: 'absolute', bottom: 28, right: 48 }}&gt;&#10;    &lt;Text style={{ fontSize: 14, color: '#9DB6DD' }}&gt;1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 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457200" y="3305175"/>
            <a:ext cx="112776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Part 4 — How SD, SR &amp; BPMN Connect</a:t>
            </a:r>
          </a:p>
        </p:txBody>
      </p:sp>
      <p:sp>
        <p:nvSpPr>
          <p:cNvPr id="88" name="圆角矩形 87"/>
          <p:cNvSpPr/>
          <p:nvPr/>
        </p:nvSpPr>
        <p:spPr>
          <a:xfrm>
            <a:off x="457200" y="3933825"/>
            <a:ext cx="104775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lstStyle/>
          <a:p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457200" y="4181475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The three models are one layered story: 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strategy → rationale → operations</a:t>
            </a: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457200" y="4514850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SD sets the actors and dependencies; SR explains each actor's goals; BPMN executes them.</a:t>
            </a: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457200" y="4848225"/>
            <a:ext cx="112776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</a:rPr>
              <a:t>• Next: the explicit mapping between the two i* models and the BPMN.</a:t>
            </a: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457200" y="1800225"/>
            <a:ext cx="11277600" cy="1600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1277600" y="64293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9DB6DD"/>
                </a:solidFill>
                <a:latin typeface="微软雅黑" panose="020B0503020204020204" charset="-122"/>
                <a:ea typeface="微软雅黑" panose="020B0503020204020204" charset="-122"/>
              </a:rPr>
              <a:t>16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40px 48px', background: '#FFFFFF', display: 'flex', flexDirection: 'column' }}&gt;&#10;  &lt;Box style={{ borderBottom: '2px solid #1E4FA8', paddingBottom: 8, marginBottom: 16 }}&gt;&#10;    &lt;Text style={{ fontSize: 14, color: '#8B97A8', letterSpacing: 1 }}&gt;PART 4 · MAPPING&lt;/Text&gt;&#10;  &lt;/Box&gt;&#10;  &lt;Text style={{ fontSize: 30, fontWeight: 'bold', color: '#1E4FA8', marginBottom: 16 }}&gt;From i* Strategy to BPMN Operations&lt;/Text&gt;&#10;  &lt;Box style={{ flex: 1, display: 'flex', flexDirection: 'row', gap: 26, alignItems: 'stretch' }}&gt;&#10;    &lt;Box style={{ width: '52%', height: '100%', display: 'flex', alignItems: 'center', justifyContent: 'center', background: '#F7F9FC', borderRadius: 10, border: '1px solid #E5E7EB', padding: 12 }}&gt;&#10;      &lt;Image src=&quot;assets/bpmn_p1.png&quot; style={{ width: '100%', height: '100%', objectFit: 'contain' }} /&gt;&#10;    &lt;/Box&gt;&#10;    &lt;Box style={{ flex: 1, display: 'flex', flexDirection: 'column', gap: 14, justifyContent: 'center' }}&gt;&#10;      &lt;Box style={{ padding: '14px 18px', background: '#F0F5FC', borderRadius: 10, border: '1px solid #E5E7EB' }}&gt;&#10;        &lt;Text style={{ fontSize: 16, fontWeight: 'bold', color: '#0E3F8C', marginBottom: 4 }}&gt;SD → BPMN pools&lt;/Text&gt;&#10;        &lt;Text style={{ fontSize: 16, color: '#4A5568', lineHeight: 1.5 }}&gt;Each SD actor boundary becomes a BPMN &lt;span style={{ fontWeight: 'bold', color: '#1E4FA8' }}&gt;pool&lt;/span&gt; — the 4 BPMN pools = the 4 role types.&lt;/Text&gt;&#10;      &lt;/Box&gt;&#10;      &lt;Box style={{ padding: '14px 18px', background: '#FFFFFF', borderRadius: 10, border: '1px solid #D6DCE5' }}&gt;&#10;        &lt;Text style={{ fontSize: 16, fontWeight: 'bold', color: '#0E3F8C', marginBottom: 4 }}&gt;SR → BPMN lanes &amp;amp; tasks&lt;/Text&gt;&#10;        &lt;Text style={{ fontSize: 16, color: '#4A5568', lineHeight: 1.5 }}&gt;Each actor's tasks become &lt;span style={{ fontWeight: 'bold', color: '#1E4FA8' }}&gt;lanes&lt;/span&gt; + tasks; the 5 service tasks realise the core business logic; softgoals become quality expectations.&lt;/Text&gt;&#10;      &lt;/Box&gt;&#10;      &lt;Box style={{ padding: '14px 18px', background: '#FFFFFF', borderRadius: 10, border: '1px solid #D6DCE5' }}&gt;&#10;        &lt;Text style={{ fontSize: 16, fontWeight: 'bold', color: '#0E3F8C', marginBottom: 4 }}&gt;BPMN = the operational realisation&lt;/Text&gt;&#10;        &lt;Text style={{ fontSize: 16, color: '#4A5568', lineHeight: 1.5 }}&gt;The Requirements Traceability Matrix ties every requirement → i* element → BPMN element, closing the loop.&lt;/Text&gt;&#10;      &lt;/Box&gt;&#10;    &lt;/Box&gt;&#10;  &lt;/Box&gt;&#10;  &lt;Box style={{ marginTop: 12, borderTop: '1px solid #E5E7EB', paddingTop: 6, display: 'flex', flexDirection: 'row', justifyContent: 'space-between' }}&gt;&#10;    &lt;Text style={{ fontSize: 13, color: '#8B97A8' }}&gt;Hospital Referral &amp;amp; Treatment Management&lt;/Text&gt;&#10;    &lt;Text style={{ fontSize: 13, color: '#1E4FA8' }}&gt;1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6" name="任意多边形 95"/>
          <p:cNvSpPr/>
          <p:nvPr/>
        </p:nvSpPr>
        <p:spPr>
          <a:xfrm>
            <a:off x="457200" y="381000"/>
            <a:ext cx="11277600" cy="276225"/>
          </a:xfrm>
          <a:custGeom>
            <a:avLst/>
            <a:gdLst/>
            <a:ahLst/>
            <a:cxnLst/>
            <a:rect l="0" t="0" r="0" b="0"/>
            <a:pathLst>
              <a:path w="1184" h="29">
                <a:moveTo>
                  <a:pt x="0" y="27"/>
                </a:moveTo>
                <a:lnTo>
                  <a:pt x="1184" y="27"/>
                </a:lnTo>
                <a:lnTo>
                  <a:pt x="11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457200" y="381000"/>
            <a:ext cx="11277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PART 4 · MAPPING</a:t>
            </a: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457200" y="790575"/>
            <a:ext cx="112776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From i* Strategy to BPMN Operations</a:t>
            </a:r>
          </a:p>
        </p:txBody>
      </p:sp>
      <p:sp>
        <p:nvSpPr>
          <p:cNvPr id="99" name="圆角矩形 98"/>
          <p:cNvSpPr/>
          <p:nvPr/>
        </p:nvSpPr>
        <p:spPr>
          <a:xfrm>
            <a:off x="457200" y="1285875"/>
            <a:ext cx="5867400" cy="4857750"/>
          </a:xfrm>
          <a:prstGeom prst="roundRect">
            <a:avLst>
              <a:gd name="adj" fmla="val 19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2"/>
          <a:srcRect l="28721" r="28721"/>
          <a:stretch>
            <a:fillRect/>
          </a:stretch>
        </p:blipFill>
        <p:spPr>
          <a:xfrm>
            <a:off x="571500" y="1400175"/>
            <a:ext cx="5638800" cy="4629150"/>
          </a:xfrm>
          <a:prstGeom prst="rect">
            <a:avLst/>
          </a:prstGeom>
        </p:spPr>
      </p:pic>
      <p:sp>
        <p:nvSpPr>
          <p:cNvPr id="101" name="圆角矩形 100"/>
          <p:cNvSpPr/>
          <p:nvPr/>
        </p:nvSpPr>
        <p:spPr>
          <a:xfrm>
            <a:off x="6572250" y="1876425"/>
            <a:ext cx="5162550" cy="104775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6743700" y="2009775"/>
            <a:ext cx="48196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SD → BPMN pools</a:t>
            </a: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6743700" y="2238375"/>
            <a:ext cx="4819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Each SD actor boundary becomes a BPMN </a:t>
            </a:r>
            <a:r>
              <a:rPr lang="en-US" sz="1200" b="1" dirty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pool</a:t>
            </a:r>
            <a:r>
              <a:rPr lang="en-US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— the 4 BPMN pools = the 4 role types.</a:t>
            </a:r>
          </a:p>
        </p:txBody>
      </p:sp>
      <p:sp>
        <p:nvSpPr>
          <p:cNvPr id="104" name="圆角矩形 103"/>
          <p:cNvSpPr/>
          <p:nvPr/>
        </p:nvSpPr>
        <p:spPr>
          <a:xfrm>
            <a:off x="6572250" y="3057525"/>
            <a:ext cx="5162550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6743700" y="3190875"/>
            <a:ext cx="48196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SR → BPMN lanes &amp; tasks</a:t>
            </a: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6743700" y="3419475"/>
            <a:ext cx="481965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Each actor's tasks become </a:t>
            </a:r>
            <a:r>
              <a:rPr lang="en-US" sz="1200" b="1" dirty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lanes</a:t>
            </a:r>
            <a:r>
              <a:rPr lang="en-US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tasks; the 5 service tasks </a:t>
            </a:r>
            <a:r>
              <a:rPr lang="en-US" sz="1200" dirty="0" err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realise</a:t>
            </a:r>
            <a:r>
              <a:rPr lang="en-US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the core business logic; </a:t>
            </a:r>
            <a:r>
              <a:rPr lang="en-US" sz="1200" dirty="0" err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softgoals</a:t>
            </a:r>
            <a:r>
              <a:rPr lang="en-US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become quality expectations.</a:t>
            </a:r>
          </a:p>
        </p:txBody>
      </p:sp>
      <p:sp>
        <p:nvSpPr>
          <p:cNvPr id="107" name="圆角矩形 106"/>
          <p:cNvSpPr/>
          <p:nvPr/>
        </p:nvSpPr>
        <p:spPr>
          <a:xfrm>
            <a:off x="6572250" y="4514850"/>
            <a:ext cx="51625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6743700" y="4648200"/>
            <a:ext cx="48196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BPMN = the operational realisation</a:t>
            </a: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6743700" y="4876800"/>
            <a:ext cx="4819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The Requirements Traceability Matrix ties every requirement → </a:t>
            </a:r>
            <a:r>
              <a:rPr lang="en-US" sz="1200" dirty="0" err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sz="120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* element → BPMN element, closing the loop.</a:t>
            </a:r>
          </a:p>
        </p:txBody>
      </p:sp>
      <p:sp>
        <p:nvSpPr>
          <p:cNvPr id="110" name="任意多边形 109"/>
          <p:cNvSpPr/>
          <p:nvPr/>
        </p:nvSpPr>
        <p:spPr>
          <a:xfrm>
            <a:off x="457200" y="6257925"/>
            <a:ext cx="11277600" cy="228600"/>
          </a:xfrm>
          <a:custGeom>
            <a:avLst/>
            <a:gdLst/>
            <a:ahLst/>
            <a:cxnLst/>
            <a:rect l="0" t="0" r="0" b="0"/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457200" y="632460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&amp; Treatment Management</a:t>
            </a: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11315700" y="6324600"/>
            <a:ext cx="419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17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0', background: '#0E3F8C', display: 'flex', flexDirection: 'column', justifyContent: 'center' }}&gt;&#10;  &lt;Box style={{ padding: '0 72px' }}&gt;&#10;    &lt;Text style={{ fontSize: 14, color: '#9DB6DD', letterSpacing: 2, fontWeight: 'bold', marginBottom: 16 }}&gt;SUMMARY &amp;amp; DELIVERABLES&lt;/Text&gt;&#10;    &lt;Text style={{ fontSize: 40, fontWeight: 'bold', color: '#FFFFFF', marginBottom: 24 }}&gt;What We Delivered&lt;/Text&gt;&#10;    &lt;Box style={{ display: 'flex', flexDirection: 'column', gap: 14 }}&gt;&#10;      &lt;Text style={{ fontSize: 19, color: '#E6EEFB' }}&gt;• &lt;span style={{ fontWeight: 'bold', color: '#FFFFFF' }}&gt;BPMN v3&lt;/span&gt; — 4 pools, 7 lanes, 5 service tasks, 13 gateways, 1 data store.&lt;/Text&gt;&#10;      &lt;Text style={{ fontSize: 19, color: '#E6EEFB' }}&gt;• &lt;span style={{ fontWeight: 'bold', color: '#FFFFFF' }}&gt;i* SD &amp;amp; SR&lt;/span&gt; — 4 actors; SD 9 dependencies, SR 57 internal elements.&lt;/Text&gt;&#10;      &lt;Text style={{ fontSize: 19, color: '#E6EEFB' }}&gt;• &lt;span style={{ fontWeight: 'bold', color: '#FFFFFF' }}&gt;All 5 lecturer requirements&lt;/span&gt; addressed with BPMN / i* evidence.&lt;/Text&gt;&#10;      &lt;Text style={{ fontSize: 19, color: '#E6EEFB' }}&gt;• &lt;span style={{ fontWeight: 'bold', color: '#FFFFFF' }}&gt;Requirements Traceability Matrix&lt;/span&gt; + &lt;span style={{ fontWeight: 'bold', color: '#FFFFFF' }}&gt;Response to Feedback&lt;/span&gt; documents.&lt;/Text&gt;&#10;    &lt;/Box&gt;&#10;    &lt;Box style={{ width: 110, height: 4, background: '#3D7BD9', borderRadius: 2, margin: '28px 0 18px' }} /&gt;&#10;    &lt;Text style={{ fontSize: 18, color: '#9DB6DD' }}&gt;Thank you — Hospital Patient Referral &amp;amp; Treatment Management · Week 6 Portfolio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 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85800" y="1952625"/>
            <a:ext cx="10820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9DB6DD"/>
                </a:solidFill>
                <a:latin typeface="微软雅黑" panose="020B0503020204020204" charset="-122"/>
                <a:ea typeface="微软雅黑" panose="020B0503020204020204" charset="-122"/>
              </a:rPr>
              <a:t>SUMMARY &amp; DELIVERABLES</a:t>
            </a: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85800" y="2266950"/>
            <a:ext cx="108204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What We Delivered</a:t>
            </a: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85800" y="2952750"/>
            <a:ext cx="1082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E6EEFB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BPMN v4</a:t>
            </a:r>
            <a:r>
              <a:rPr lang="en-US" sz="1425">
                <a:solidFill>
                  <a:srgbClr val="E6EEFB"/>
                </a:solidFill>
                <a:latin typeface="微软雅黑" panose="020B0503020204020204" charset="-122"/>
                <a:ea typeface="微软雅黑" panose="020B0503020204020204" charset="-122"/>
              </a:rPr>
              <a:t> — 4 pools, 7 lanes, 5 service tasks, 13 gateways, 1 data store.</a:t>
            </a: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85800" y="3305175"/>
            <a:ext cx="1082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E6EEFB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i* SD &amp; SR</a:t>
            </a:r>
            <a:r>
              <a:rPr lang="en-US" sz="1425">
                <a:solidFill>
                  <a:srgbClr val="E6EEFB"/>
                </a:solidFill>
                <a:latin typeface="微软雅黑" panose="020B0503020204020204" charset="-122"/>
                <a:ea typeface="微软雅黑" panose="020B0503020204020204" charset="-122"/>
              </a:rPr>
              <a:t> — 4 actors; SD 9 dependencies, SR 57 internal elements.</a:t>
            </a: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85800" y="3657600"/>
            <a:ext cx="1082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E6EEFB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All 5 lecturer requirements</a:t>
            </a:r>
            <a:r>
              <a:rPr lang="en-US" sz="1425">
                <a:solidFill>
                  <a:srgbClr val="E6EEFB"/>
                </a:solidFill>
                <a:latin typeface="微软雅黑" panose="020B0503020204020204" charset="-122"/>
                <a:ea typeface="微软雅黑" panose="020B0503020204020204" charset="-122"/>
              </a:rPr>
              <a:t> addressed with BPMN / i* evidence.</a:t>
            </a: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685800" y="4010025"/>
            <a:ext cx="1082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E6EEFB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Requirements Traceability Matrix</a:t>
            </a:r>
            <a:r>
              <a:rPr lang="en-US" sz="1425">
                <a:solidFill>
                  <a:srgbClr val="E6EEF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Response to Feedback</a:t>
            </a:r>
            <a:r>
              <a:rPr lang="en-US" sz="1425">
                <a:solidFill>
                  <a:srgbClr val="E6EEFB"/>
                </a:solidFill>
                <a:latin typeface="微软雅黑" panose="020B0503020204020204" charset="-122"/>
                <a:ea typeface="微软雅黑" panose="020B0503020204020204" charset="-122"/>
              </a:rPr>
              <a:t> documents.</a:t>
            </a:r>
          </a:p>
        </p:txBody>
      </p:sp>
      <p:sp>
        <p:nvSpPr>
          <p:cNvPr id="121" name="圆角矩形 120"/>
          <p:cNvSpPr/>
          <p:nvPr/>
        </p:nvSpPr>
        <p:spPr>
          <a:xfrm>
            <a:off x="685800" y="4495800"/>
            <a:ext cx="104775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lstStyle/>
          <a:p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85800" y="4705350"/>
            <a:ext cx="10820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9DB6DD"/>
                </a:solidFill>
                <a:latin typeface="微软雅黑" panose="020B0503020204020204" charset="-122"/>
                <a:ea typeface="微软雅黑" panose="020B0503020204020204" charset="-122"/>
              </a:rPr>
              <a:t>Thank you — Hospital Patient Referral &amp; Treatment Management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,&quot;left&quot;:52.5,&quot;top&quot;:123,&quot;width&quot;:46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25,&quot;left&quot;:341.25,&quot;top&quot;:62.25,&quot;width&quot;:582.7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25,&quot;left&quot;:341.25,&quot;top&quot;:62.25,&quot;width&quot;:582.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25,&quot;left&quot;:341.25,&quot;top&quot;:62.25,&quot;width&quot;:582.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25,&quot;left&quot;:341.25,&quot;top&quot;:62.25,&quot;width&quot;:582.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25,&quot;left&quot;:341.25,&quot;top&quot;:62.25,&quot;width&quot;:582.7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25,&quot;left&quot;:341.25,&quot;top&quot;:62.25,&quot;width&quot;:582.7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25,&quot;left&quot;:341.25,&quot;top&quot;:62.25,&quot;width&quot;:582.7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25,&quot;left&quot;:341.25,&quot;top&quot;:62.25,&quot;width&quot;:582.7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4.25,&quot;left&quot;:341.25,&quot;top&quot;:62.25,&quot;width&quot;:582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1717</Words>
  <Application>Microsoft Office PowerPoint</Application>
  <PresentationFormat>宽屏</PresentationFormat>
  <Paragraphs>229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Night Ye</cp:lastModifiedBy>
  <cp:revision>8</cp:revision>
  <dcterms:created xsi:type="dcterms:W3CDTF">2026-10-20T12:53:06Z</dcterms:created>
  <dcterms:modified xsi:type="dcterms:W3CDTF">2026-10-20T14:27:30Z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4A3618B9995E41309833EFE4481D1F89_12</vt:lpwstr>
  </property>
</Properties>
</file>